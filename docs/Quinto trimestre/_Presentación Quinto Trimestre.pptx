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Work Sans Medium"/>
      <p:regular r:id="rId20"/>
      <p:bold r:id="rId21"/>
      <p:italic r:id="rId22"/>
      <p:boldItalic r:id="rId23"/>
    </p:embeddedFont>
    <p:embeddedFont>
      <p:font typeface="Work Sans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Z/Ets6axQCpoCi7T5+OVNEnd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regular.fntdata"/><Relationship Id="rId22" Type="http://schemas.openxmlformats.org/officeDocument/2006/relationships/font" Target="fonts/WorkSansMedium-italic.fntdata"/><Relationship Id="rId21" Type="http://schemas.openxmlformats.org/officeDocument/2006/relationships/font" Target="fonts/WorkSansMedium-bold.fntdata"/><Relationship Id="rId24" Type="http://schemas.openxmlformats.org/officeDocument/2006/relationships/font" Target="fonts/WorkSansLight-regular.fntdata"/><Relationship Id="rId23" Type="http://schemas.openxmlformats.org/officeDocument/2006/relationships/font" Target="fonts/WorkSans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Light-italic.fntdata"/><Relationship Id="rId25" Type="http://schemas.openxmlformats.org/officeDocument/2006/relationships/font" Target="fonts/WorkSansLight-bold.fntdata"/><Relationship Id="rId28" Type="http://customschemas.google.com/relationships/presentationmetadata" Target="metadata"/><Relationship Id="rId27" Type="http://schemas.openxmlformats.org/officeDocument/2006/relationships/font" Target="fonts/Work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94a6dd4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g2c94a6dd4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a3df4c72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g31da3df4c72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e0f56969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g34e0f5696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da3df4c72_1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g31da3df4c72_1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a80c16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d6a80c16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2d6a80c16b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28552c2d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528552c2d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528552c2d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6a5ef9f4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6" name="Google Shape;176;g2d6a5ef9f4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34a3e824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5" name="Google Shape;185;g2d34a3e824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e0f56969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g34e0f56969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6a340061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5" name="Google Shape;205;g2d6a340061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e0f56969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5" name="Google Shape;215;g34e0f56969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hyperlink" Target="https://web.postman.co/workspace/My-Workspace~755a008e-489d-40e1-8c9f-84c351537397/collection/39495180-7b6f07ed-0bbe-49b6-b47c-774254fd27d2" TargetMode="External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hyperlink" Target="https://drive.google.com/drive/u/0/folders/1G9dNx6vVeMFHZ8HIW0Q1hkqm8JBLSGUV" TargetMode="External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hyperlink" Target="https://b24-fdiyqc.bitrix24.co/company/personal/user/1/tasks/" TargetMode="External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hyperlink" Target="https://github.com/Alejo9009/SETSAPP" TargetMode="External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hyperlink" Target="https://github.com/Alejo9009/SETS" TargetMode="External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ndow" id="96" name="Google Shape;9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8379651" y="6075850"/>
            <a:ext cx="344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5479" l="5758" r="10043" t="2859"/>
          <a:stretch/>
        </p:blipFill>
        <p:spPr>
          <a:xfrm>
            <a:off x="4309013" y="1970700"/>
            <a:ext cx="3573975" cy="34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463325" y="3389050"/>
            <a:ext cx="405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Alejandro Pirazan Esquivel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Yeider Santiago Briceño Sicacha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Yensy Karina Caballero  Castro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 amt="49000"/>
          </a:blip>
          <a:srcRect b="5479" l="5758" r="10043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876" y="2267376"/>
            <a:ext cx="5139801" cy="34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94a6dd43f_1_0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>
                <a:solidFill>
                  <a:schemeClr val="lt1"/>
                </a:solidFill>
              </a:rPr>
              <a:t>Introducción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12" name="Google Shape;112;g2c94a6dd43f_1_0"/>
          <p:cNvPicPr preferRelativeResize="0"/>
          <p:nvPr/>
        </p:nvPicPr>
        <p:blipFill rotWithShape="1">
          <a:blip r:embed="rId3">
            <a:alphaModFix amt="49000"/>
          </a:blip>
          <a:srcRect b="5479" l="5758" r="10043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c94a6dd43f_1_0"/>
          <p:cNvSpPr txBox="1"/>
          <p:nvPr/>
        </p:nvSpPr>
        <p:spPr>
          <a:xfrm>
            <a:off x="4775000" y="2723325"/>
            <a:ext cx="5230500" cy="2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 al proceso de recopilación de información mediante una encuesta aplicada a los residentes fue posible identificar </a:t>
            </a:r>
            <a:r>
              <a:rPr lang="es-MX" sz="1500">
                <a:solidFill>
                  <a:schemeClr val="dk1"/>
                </a:solidFill>
              </a:rPr>
              <a:t>diversas falencias en los procesos administrativos detectamos que muchos de estos procesos no son </a:t>
            </a:r>
            <a:r>
              <a:rPr lang="es-MX" sz="1500">
                <a:solidFill>
                  <a:schemeClr val="dk1"/>
                </a:solidFill>
              </a:rPr>
              <a:t>fácilmente</a:t>
            </a:r>
            <a:r>
              <a:rPr lang="es-MX" sz="1500">
                <a:solidFill>
                  <a:schemeClr val="dk1"/>
                </a:solidFill>
              </a:rPr>
              <a:t> accesibles para los copropietarios lo que genera una cadena de malentendidos y </a:t>
            </a:r>
            <a:r>
              <a:rPr lang="es-MX" sz="1500">
                <a:solidFill>
                  <a:schemeClr val="dk1"/>
                </a:solidFill>
              </a:rPr>
              <a:t>conflictos</a:t>
            </a:r>
            <a:r>
              <a:rPr lang="es-MX" sz="1500">
                <a:solidFill>
                  <a:schemeClr val="dk1"/>
                </a:solidFill>
              </a:rPr>
              <a:t> que afectan negativamente la convivencia y la </a:t>
            </a:r>
            <a:r>
              <a:rPr lang="es-MX" sz="1500">
                <a:solidFill>
                  <a:schemeClr val="dk1"/>
                </a:solidFill>
              </a:rPr>
              <a:t>administración</a:t>
            </a:r>
            <a:r>
              <a:rPr lang="es-MX" sz="1500">
                <a:solidFill>
                  <a:schemeClr val="dk1"/>
                </a:solidFill>
              </a:rPr>
              <a:t> en la propiedad horizontal.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2c94a6dd43f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6325" y="2639743"/>
            <a:ext cx="2143125" cy="21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g2c94a6dd43f_1_0"/>
          <p:cNvCxnSpPr/>
          <p:nvPr/>
        </p:nvCxnSpPr>
        <p:spPr>
          <a:xfrm>
            <a:off x="4775002" y="4893033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>
            <a:off x="4711927" y="4790833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"/>
          <p:cNvSpPr txBox="1"/>
          <p:nvPr/>
        </p:nvSpPr>
        <p:spPr>
          <a:xfrm>
            <a:off x="4711925" y="3321375"/>
            <a:ext cx="60960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software desarrollado tiene como objeti</a:t>
            </a:r>
            <a:r>
              <a:rPr lang="es-MX" sz="1500">
                <a:solidFill>
                  <a:schemeClr val="dk1"/>
                </a:solidFill>
              </a:rPr>
              <a:t>vo optimizar la </a:t>
            </a:r>
            <a:r>
              <a:rPr lang="es-MX" sz="1500">
                <a:solidFill>
                  <a:schemeClr val="dk1"/>
                </a:solidFill>
              </a:rPr>
              <a:t>gestión</a:t>
            </a:r>
            <a:r>
              <a:rPr lang="es-MX" sz="1500">
                <a:solidFill>
                  <a:schemeClr val="dk1"/>
                </a:solidFill>
              </a:rPr>
              <a:t> de los procesos administrativos en una propiedad horizontal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enfocándose</a:t>
            </a:r>
            <a:r>
              <a:rPr lang="es-MX" sz="1500">
                <a:solidFill>
                  <a:schemeClr val="dk1"/>
                </a:solidFill>
              </a:rPr>
              <a:t> en mejorar la </a:t>
            </a:r>
            <a:r>
              <a:rPr lang="es-MX" sz="1500">
                <a:solidFill>
                  <a:schemeClr val="dk1"/>
                </a:solidFill>
              </a:rPr>
              <a:t>comunicación</a:t>
            </a:r>
            <a:r>
              <a:rPr lang="es-MX" sz="1500">
                <a:solidFill>
                  <a:schemeClr val="dk1"/>
                </a:solidFill>
              </a:rPr>
              <a:t> entre el administrador y los residentes, facilitando el acceso a la </a:t>
            </a:r>
            <a:r>
              <a:rPr lang="es-MX" sz="1500">
                <a:solidFill>
                  <a:schemeClr val="dk1"/>
                </a:solidFill>
              </a:rPr>
              <a:t>información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lang="es-MX" sz="1500">
                <a:solidFill>
                  <a:schemeClr val="dk1"/>
                </a:solidFill>
              </a:rPr>
              <a:t>reduciendo</a:t>
            </a:r>
            <a:r>
              <a:rPr lang="es-MX" sz="1500">
                <a:solidFill>
                  <a:schemeClr val="dk1"/>
                </a:solidFill>
              </a:rPr>
              <a:t> el tiempo en la </a:t>
            </a:r>
            <a:r>
              <a:rPr lang="es-MX" sz="1500">
                <a:solidFill>
                  <a:schemeClr val="dk1"/>
                </a:solidFill>
              </a:rPr>
              <a:t>realización</a:t>
            </a:r>
            <a:r>
              <a:rPr lang="es-MX" sz="1500">
                <a:solidFill>
                  <a:schemeClr val="dk1"/>
                </a:solidFill>
              </a:rPr>
              <a:t> de </a:t>
            </a:r>
            <a:r>
              <a:rPr lang="es-MX" sz="1500">
                <a:solidFill>
                  <a:schemeClr val="dk1"/>
                </a:solidFill>
              </a:rPr>
              <a:t>trámites</a:t>
            </a:r>
            <a:r>
              <a:rPr lang="es-MX" sz="1500">
                <a:solidFill>
                  <a:schemeClr val="dk1"/>
                </a:solidFill>
              </a:rPr>
              <a:t> y permitiendo una </a:t>
            </a:r>
            <a:r>
              <a:rPr lang="es-MX" sz="1500">
                <a:solidFill>
                  <a:schemeClr val="dk1"/>
                </a:solidFill>
              </a:rPr>
              <a:t>administración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lang="es-MX" sz="1500">
                <a:solidFill>
                  <a:schemeClr val="dk1"/>
                </a:solidFill>
              </a:rPr>
              <a:t>más</a:t>
            </a:r>
            <a:r>
              <a:rPr lang="es-MX" sz="1500">
                <a:solidFill>
                  <a:schemeClr val="dk1"/>
                </a:solidFill>
              </a:rPr>
              <a:t> eficiente.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 amt="49000"/>
          </a:blip>
          <a:srcRect b="5479" l="5758" r="10043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0875" y="2754547"/>
            <a:ext cx="2379925" cy="237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da3df4c72_1_5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1da3df4c72_1_5"/>
          <p:cNvCxnSpPr>
            <a:stCxn id="129" idx="1"/>
          </p:cNvCxnSpPr>
          <p:nvPr/>
        </p:nvCxnSpPr>
        <p:spPr>
          <a:xfrm>
            <a:off x="950054" y="114246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g31da3df4c72_1_5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1da3df4c72_1_5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1da3df4c72_1_5"/>
          <p:cNvPicPr preferRelativeResize="0"/>
          <p:nvPr/>
        </p:nvPicPr>
        <p:blipFill rotWithShape="1">
          <a:blip r:embed="rId4">
            <a:alphaModFix/>
          </a:blip>
          <a:srcRect b="6076" l="0" r="0" t="0"/>
          <a:stretch/>
        </p:blipFill>
        <p:spPr>
          <a:xfrm>
            <a:off x="1063525" y="1314875"/>
            <a:ext cx="9214673" cy="513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e0f56969e_0_1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g34e0f56969e_0_1"/>
          <p:cNvCxnSpPr>
            <a:stCxn id="138" idx="1"/>
          </p:cNvCxnSpPr>
          <p:nvPr/>
        </p:nvCxnSpPr>
        <p:spPr>
          <a:xfrm>
            <a:off x="950054" y="114246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g34e0f56969e_0_1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4e0f56969e_0_1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4e0f56969e_0_1"/>
          <p:cNvPicPr preferRelativeResize="0"/>
          <p:nvPr/>
        </p:nvPicPr>
        <p:blipFill rotWithShape="1">
          <a:blip r:embed="rId4">
            <a:alphaModFix/>
          </a:blip>
          <a:srcRect b="5517" l="0" r="0" t="0"/>
          <a:stretch/>
        </p:blipFill>
        <p:spPr>
          <a:xfrm>
            <a:off x="950050" y="1508125"/>
            <a:ext cx="10122592" cy="50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da3df4c72_1_100"/>
          <p:cNvSpPr txBox="1"/>
          <p:nvPr/>
        </p:nvSpPr>
        <p:spPr>
          <a:xfrm>
            <a:off x="238754" y="1227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g31da3df4c72_1_100"/>
          <p:cNvCxnSpPr>
            <a:stCxn id="147" idx="1"/>
          </p:cNvCxnSpPr>
          <p:nvPr/>
        </p:nvCxnSpPr>
        <p:spPr>
          <a:xfrm>
            <a:off x="238754" y="65931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g31da3df4c72_1_100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1da3df4c72_1_100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1da3df4c72_1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12" y="803016"/>
            <a:ext cx="2436337" cy="541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1da3df4c72_1_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675" y="831550"/>
            <a:ext cx="2436350" cy="535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1da3df4c72_1_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7325" y="827050"/>
            <a:ext cx="2436350" cy="536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1da3df4c72_1_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21705" y="912651"/>
            <a:ext cx="2333146" cy="52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a80c16b6_0_0"/>
          <p:cNvSpPr txBox="1"/>
          <p:nvPr>
            <p:ph type="title"/>
          </p:nvPr>
        </p:nvSpPr>
        <p:spPr>
          <a:xfrm>
            <a:off x="1648275" y="104150"/>
            <a:ext cx="9343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Documentación</a:t>
            </a:r>
            <a:r>
              <a:rPr lang="es-MX">
                <a:solidFill>
                  <a:schemeClr val="lt1"/>
                </a:solidFill>
              </a:rPr>
              <a:t> API 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1" name="Google Shape;161;g2d6a80c16b6_0_0"/>
          <p:cNvCxnSpPr/>
          <p:nvPr/>
        </p:nvCxnSpPr>
        <p:spPr>
          <a:xfrm>
            <a:off x="3914852" y="6189708"/>
            <a:ext cx="43623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2" name="Google Shape;162;g2d6a80c16b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75" y="193625"/>
            <a:ext cx="1064176" cy="9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d6a80c16b6_0_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375" y="1697325"/>
            <a:ext cx="10653248" cy="49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28552c2d1_0_1"/>
          <p:cNvSpPr txBox="1"/>
          <p:nvPr>
            <p:ph type="title"/>
          </p:nvPr>
        </p:nvSpPr>
        <p:spPr>
          <a:xfrm>
            <a:off x="1648275" y="104150"/>
            <a:ext cx="9343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Documentación API 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0" name="Google Shape;170;g3528552c2d1_0_1"/>
          <p:cNvCxnSpPr/>
          <p:nvPr/>
        </p:nvCxnSpPr>
        <p:spPr>
          <a:xfrm>
            <a:off x="7015177" y="6474233"/>
            <a:ext cx="43623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g3528552c2d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75" y="193625"/>
            <a:ext cx="1064176" cy="9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528552c2d1_0_1"/>
          <p:cNvSpPr txBox="1"/>
          <p:nvPr/>
        </p:nvSpPr>
        <p:spPr>
          <a:xfrm>
            <a:off x="6711000" y="2832825"/>
            <a:ext cx="470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/>
              <a:t>la </a:t>
            </a:r>
            <a:r>
              <a:rPr lang="es-MX" sz="1800"/>
              <a:t>documentación</a:t>
            </a:r>
            <a:r>
              <a:rPr lang="es-MX" sz="1800"/>
              <a:t> se </a:t>
            </a:r>
            <a:r>
              <a:rPr lang="es-MX" sz="1800"/>
              <a:t>realizó</a:t>
            </a:r>
            <a:r>
              <a:rPr lang="es-MX" sz="1800"/>
              <a:t> a </a:t>
            </a:r>
            <a:r>
              <a:rPr lang="es-MX" sz="1800"/>
              <a:t>través</a:t>
            </a:r>
            <a:r>
              <a:rPr lang="es-MX" sz="1800"/>
              <a:t> de postman en la cual se crearon las colecciones por cada proceso  y en ellas se </a:t>
            </a:r>
            <a:r>
              <a:rPr lang="es-MX" sz="1800"/>
              <a:t>ponían</a:t>
            </a:r>
            <a:r>
              <a:rPr lang="es-MX" sz="1800"/>
              <a:t> </a:t>
            </a:r>
            <a:r>
              <a:rPr lang="es-MX" sz="1800"/>
              <a:t>los</a:t>
            </a:r>
            <a:r>
              <a:rPr lang="es-MX" sz="1800"/>
              <a:t> </a:t>
            </a:r>
            <a:r>
              <a:rPr lang="es-MX" sz="1800"/>
              <a:t>métodos</a:t>
            </a:r>
            <a:r>
              <a:rPr lang="es-MX" sz="1800"/>
              <a:t> que se utilizaron ya sea GET,POST,PUT,DELETE .</a:t>
            </a:r>
            <a:endParaRPr sz="1800"/>
          </a:p>
        </p:txBody>
      </p:sp>
      <p:pic>
        <p:nvPicPr>
          <p:cNvPr id="173" name="Google Shape;173;g3528552c2d1_0_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900" y="1429850"/>
            <a:ext cx="5577638" cy="512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6a5ef9f46_0_0"/>
          <p:cNvSpPr txBox="1"/>
          <p:nvPr>
            <p:ph type="title"/>
          </p:nvPr>
        </p:nvSpPr>
        <p:spPr>
          <a:xfrm>
            <a:off x="138492" y="36950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Metodología</a:t>
            </a: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Scrum</a:t>
            </a:r>
            <a:endParaRPr/>
          </a:p>
        </p:txBody>
      </p:sp>
      <p:sp>
        <p:nvSpPr>
          <p:cNvPr id="179" name="Google Shape;179;g2d6a5ef9f46_0_0"/>
          <p:cNvSpPr txBox="1"/>
          <p:nvPr/>
        </p:nvSpPr>
        <p:spPr>
          <a:xfrm>
            <a:off x="5302400" y="1377788"/>
            <a:ext cx="223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2d6a5ef9f46_0_0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d6a5ef9f46_0_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750" y="1599500"/>
            <a:ext cx="7214999" cy="472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d6a5ef9f46_0_0"/>
          <p:cNvSpPr txBox="1"/>
          <p:nvPr/>
        </p:nvSpPr>
        <p:spPr>
          <a:xfrm>
            <a:off x="7984675" y="2478675"/>
            <a:ext cx="3193800" cy="3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metodología Scrum es un marco de trabajo ágil utilizado para la gestión de proyectos, especialmente en el desarrollo de software, que se basa en la colaboración, la iteración y la adaptación. Se centra en entregar valor al cliente de forma rápida y flexible 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nosotros usaremos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bitrix24 que nos da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muchísimas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funciones que nos ayudan a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esta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buena manera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34a3e8246_0_1"/>
          <p:cNvSpPr txBox="1"/>
          <p:nvPr/>
        </p:nvSpPr>
        <p:spPr>
          <a:xfrm>
            <a:off x="580979" y="159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2d34a3e8246_0_1"/>
          <p:cNvCxnSpPr>
            <a:stCxn id="187" idx="1"/>
          </p:cNvCxnSpPr>
          <p:nvPr/>
        </p:nvCxnSpPr>
        <p:spPr>
          <a:xfrm flipH="1" rot="10800000">
            <a:off x="580979" y="64770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g2d34a3e8246_0_1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d34a3e8246_0_1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2d34a3e8246_0_1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d34a3e8246_0_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975" y="949175"/>
            <a:ext cx="10188525" cy="523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e0f56969e_0_13"/>
          <p:cNvSpPr txBox="1"/>
          <p:nvPr/>
        </p:nvSpPr>
        <p:spPr>
          <a:xfrm>
            <a:off x="580973" y="159150"/>
            <a:ext cx="84423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</a:t>
            </a: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GitHub Desktop</a:t>
            </a: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g34e0f56969e_0_13"/>
          <p:cNvCxnSpPr>
            <a:stCxn id="197" idx="1"/>
          </p:cNvCxnSpPr>
          <p:nvPr/>
        </p:nvCxnSpPr>
        <p:spPr>
          <a:xfrm flipH="1" rot="10800000">
            <a:off x="580973" y="647700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4e0f56969e_0_13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4e0f56969e_0_13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4e0f56969e_0_13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4e0f56969e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850" y="951800"/>
            <a:ext cx="10192823" cy="53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6a340061f_0_0"/>
          <p:cNvSpPr txBox="1"/>
          <p:nvPr/>
        </p:nvSpPr>
        <p:spPr>
          <a:xfrm>
            <a:off x="580979" y="159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 </a:t>
            </a: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W</a:t>
            </a: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2d6a340061f_0_0"/>
          <p:cNvCxnSpPr>
            <a:stCxn id="207" idx="1"/>
          </p:cNvCxnSpPr>
          <p:nvPr/>
        </p:nvCxnSpPr>
        <p:spPr>
          <a:xfrm flipH="1" rot="10800000">
            <a:off x="580979" y="64770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g2d6a340061f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d6a340061f_0_0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2d6a340061f_0_0"/>
          <p:cNvPicPr preferRelativeResize="0"/>
          <p:nvPr/>
        </p:nvPicPr>
        <p:blipFill rotWithShape="1">
          <a:blip r:embed="rId3">
            <a:alphaModFix amt="49000"/>
          </a:blip>
          <a:srcRect b="5480" l="5758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2d6a340061f_0_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50" y="1055150"/>
            <a:ext cx="10025075" cy="51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e0f56969e_0_25"/>
          <p:cNvSpPr txBox="1"/>
          <p:nvPr/>
        </p:nvSpPr>
        <p:spPr>
          <a:xfrm>
            <a:off x="580972" y="159150"/>
            <a:ext cx="9410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 Desktop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t/>
            </a:r>
            <a:endParaRPr sz="2600">
              <a:solidFill>
                <a:srgbClr val="38AA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218" name="Google Shape;218;g34e0f56969e_0_25"/>
          <p:cNvCxnSpPr>
            <a:stCxn id="217" idx="1"/>
          </p:cNvCxnSpPr>
          <p:nvPr/>
        </p:nvCxnSpPr>
        <p:spPr>
          <a:xfrm flipH="1" rot="10800000">
            <a:off x="580972" y="647700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g34e0f56969e_0_25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4e0f56969e_0_25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4e0f56969e_0_25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49" cy="8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4e0f56969e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75" y="909375"/>
            <a:ext cx="10390849" cy="5474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27" name="Google Shape;2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