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Work Sans Medium"/>
      <p:regular r:id="rId18"/>
      <p:bold r:id="rId19"/>
      <p:italic r:id="rId20"/>
      <p:boldItalic r:id="rId21"/>
    </p:embeddedFont>
    <p:embeddedFont>
      <p:font typeface="Work Sans Light"/>
      <p:regular r:id="rId22"/>
      <p:bold r:id="rId23"/>
      <p:italic r:id="rId24"/>
      <p:boldItalic r:id="rId25"/>
    </p:embeddedFont>
    <p:embeddedFont>
      <p:font typeface="Roboto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h50YeeK9wAz9Lcp91spIv4Q8uO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Medium-italic.fntdata"/><Relationship Id="rId22" Type="http://schemas.openxmlformats.org/officeDocument/2006/relationships/font" Target="fonts/WorkSansLight-regular.fntdata"/><Relationship Id="rId21" Type="http://schemas.openxmlformats.org/officeDocument/2006/relationships/font" Target="fonts/WorkSansMedium-boldItalic.fntdata"/><Relationship Id="rId24" Type="http://schemas.openxmlformats.org/officeDocument/2006/relationships/font" Target="fonts/WorkSansLight-italic.fntdata"/><Relationship Id="rId23" Type="http://schemas.openxmlformats.org/officeDocument/2006/relationships/font" Target="fonts/WorkSansLight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Mono-regular.fntdata"/><Relationship Id="rId25" Type="http://schemas.openxmlformats.org/officeDocument/2006/relationships/font" Target="fonts/WorkSansLight-boldItalic.fntdata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WorkSansMedium-bold.fntdata"/><Relationship Id="rId18" Type="http://schemas.openxmlformats.org/officeDocument/2006/relationships/font" Target="fonts/WorkSa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c94a6dd43f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9" name="Google Shape;109;g2c94a6dd43f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da3df4c72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7" name="Google Shape;127;g31da3df4c72_1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1da3df4c72_1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6" name="Google Shape;136;g31da3df4c72_1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d6a80c16b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d6a80c16b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2d6a80c16b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d6a5ef9f4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4" name="Google Shape;154;g2d6a5ef9f4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d6a5ef9f46_2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4" name="Google Shape;164;g2d6a5ef9f46_2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d394cf6a0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4" name="Google Shape;174;g2d394cf6a0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d34a3e8246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8" name="Google Shape;188;g2d34a3e8246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d6a340061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8" name="Google Shape;198;g2d6a340061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8" name="Google Shape;20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28" name="Google Shape;2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hyperlink" Target="https://drive.google.com/drive/u/0/folders/14KoA5js0yyb1umzt9et-THnqe35RKO-R" TargetMode="External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14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15.png"/><Relationship Id="rId7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indow" id="96" name="Google Shape;96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470" y="206391"/>
            <a:ext cx="11891530" cy="148036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"/>
          <p:cNvSpPr txBox="1"/>
          <p:nvPr/>
        </p:nvSpPr>
        <p:spPr>
          <a:xfrm>
            <a:off x="8379651" y="6075850"/>
            <a:ext cx="3446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Análisis y Desarrollo de Software </a:t>
            </a:r>
            <a:endParaRPr b="0" i="0" sz="18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Cuarto </a:t>
            </a:r>
            <a:r>
              <a:rPr lang="es-MX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Trimestre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"/>
          <p:cNvPicPr preferRelativeResize="0"/>
          <p:nvPr/>
        </p:nvPicPr>
        <p:blipFill rotWithShape="1">
          <a:blip r:embed="rId4">
            <a:alphaModFix/>
          </a:blip>
          <a:srcRect b="5480" l="5758" r="10044" t="2859"/>
          <a:stretch/>
        </p:blipFill>
        <p:spPr>
          <a:xfrm>
            <a:off x="4309013" y="1970700"/>
            <a:ext cx="3573975" cy="341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Integrantes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6463325" y="3389050"/>
            <a:ext cx="4057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</a:rPr>
              <a:t>Alejandro Pirazan Esquivel</a:t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Yeider</a:t>
            </a:r>
            <a:r>
              <a:rPr lang="es-MX" sz="1800"/>
              <a:t> </a:t>
            </a:r>
            <a:r>
              <a:rPr b="0" i="0" lang="es-MX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Santiago Briceño Sicacha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Yensy Karina Caballero  Castro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2"/>
          <p:cNvPicPr preferRelativeResize="0"/>
          <p:nvPr/>
        </p:nvPicPr>
        <p:blipFill rotWithShape="1">
          <a:blip r:embed="rId3">
            <a:alphaModFix amt="49000"/>
          </a:blip>
          <a:srcRect b="5480" l="5758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1188" y="2311338"/>
            <a:ext cx="4621925" cy="307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c94a6dd43f_1_0"/>
          <p:cNvSpPr txBox="1"/>
          <p:nvPr>
            <p:ph type="title"/>
          </p:nvPr>
        </p:nvSpPr>
        <p:spPr>
          <a:xfrm>
            <a:off x="456236" y="1104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1" lang="es-MX">
                <a:solidFill>
                  <a:schemeClr val="lt1"/>
                </a:solidFill>
              </a:rPr>
              <a:t>Introducción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112" name="Google Shape;112;g2c94a6dd43f_1_0"/>
          <p:cNvPicPr preferRelativeResize="0"/>
          <p:nvPr/>
        </p:nvPicPr>
        <p:blipFill rotWithShape="1">
          <a:blip r:embed="rId3">
            <a:alphaModFix amt="49000"/>
          </a:blip>
          <a:srcRect b="5480" l="5758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2c94a6dd43f_1_0"/>
          <p:cNvSpPr txBox="1"/>
          <p:nvPr/>
        </p:nvSpPr>
        <p:spPr>
          <a:xfrm>
            <a:off x="4775000" y="2723325"/>
            <a:ext cx="5230500" cy="18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Gracias al proceso de recopilación de información mediante una encuesta la cual nos logró resaltar varias falencias de conjuntos residenciales, detectamos que </a:t>
            </a:r>
            <a:r>
              <a:rPr lang="es-MX" sz="1500">
                <a:solidFill>
                  <a:schemeClr val="dk1"/>
                </a:solidFill>
              </a:rPr>
              <a:t>varios procesos administrativos no </a:t>
            </a:r>
            <a:r>
              <a:rPr lang="es-MX" sz="1500">
                <a:solidFill>
                  <a:schemeClr val="dk1"/>
                </a:solidFill>
              </a:rPr>
              <a:t>están</a:t>
            </a:r>
            <a:r>
              <a:rPr lang="es-MX" sz="1500">
                <a:solidFill>
                  <a:schemeClr val="dk1"/>
                </a:solidFill>
              </a:rPr>
              <a:t> al alcance de los </a:t>
            </a:r>
            <a:r>
              <a:rPr lang="es-MX" sz="1500">
                <a:solidFill>
                  <a:schemeClr val="dk1"/>
                </a:solidFill>
              </a:rPr>
              <a:t>copropietarios</a:t>
            </a:r>
            <a:r>
              <a:rPr lang="es-MX" sz="1500">
                <a:solidFill>
                  <a:schemeClr val="dk1"/>
                </a:solidFill>
              </a:rPr>
              <a:t> </a:t>
            </a: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 cual causaba una cadena de malentendidos que afectan al buen desarrollo de una propiedad horizontal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g2c94a6dd43f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6325" y="2639743"/>
            <a:ext cx="2143125" cy="2143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" name="Google Shape;115;g2c94a6dd43f_1_0"/>
          <p:cNvCxnSpPr/>
          <p:nvPr/>
        </p:nvCxnSpPr>
        <p:spPr>
          <a:xfrm>
            <a:off x="4847352" y="4620458"/>
            <a:ext cx="720000" cy="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Alcance</a:t>
            </a:r>
            <a:endParaRPr/>
          </a:p>
        </p:txBody>
      </p:sp>
      <p:cxnSp>
        <p:nvCxnSpPr>
          <p:cNvPr id="121" name="Google Shape;121;p3"/>
          <p:cNvCxnSpPr/>
          <p:nvPr/>
        </p:nvCxnSpPr>
        <p:spPr>
          <a:xfrm>
            <a:off x="4729527" y="4456733"/>
            <a:ext cx="720000" cy="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" name="Google Shape;122;p3"/>
          <p:cNvSpPr txBox="1"/>
          <p:nvPr/>
        </p:nvSpPr>
        <p:spPr>
          <a:xfrm>
            <a:off x="4729519" y="3136724"/>
            <a:ext cx="60960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software sets le permitirá gestionar los procesos de una propiedad horizontal  enfocándose en la comunicación entre el administrador y el residente, reducir el tiempo para algunos procesos donde el administrador modifica, facilitara y gestionará los sistemas de comunicación del residente de manera eficiente y segura.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3"/>
          <p:cNvPicPr preferRelativeResize="0"/>
          <p:nvPr/>
        </p:nvPicPr>
        <p:blipFill rotWithShape="1">
          <a:blip r:embed="rId3">
            <a:alphaModFix amt="49000"/>
          </a:blip>
          <a:srcRect b="5480" l="5758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0875" y="2754547"/>
            <a:ext cx="2379925" cy="2379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1da3df4c72_1_5"/>
          <p:cNvSpPr txBox="1"/>
          <p:nvPr/>
        </p:nvSpPr>
        <p:spPr>
          <a:xfrm>
            <a:off x="950054" y="605917"/>
            <a:ext cx="55479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Backup.sql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g31da3df4c72_1_5"/>
          <p:cNvCxnSpPr>
            <a:stCxn id="129" idx="1"/>
          </p:cNvCxnSpPr>
          <p:nvPr/>
        </p:nvCxnSpPr>
        <p:spPr>
          <a:xfrm>
            <a:off x="950054" y="1142467"/>
            <a:ext cx="5067900" cy="81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g31da3df4c72_1_5"/>
          <p:cNvSpPr txBox="1"/>
          <p:nvPr/>
        </p:nvSpPr>
        <p:spPr>
          <a:xfrm>
            <a:off x="950050" y="1314875"/>
            <a:ext cx="6258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g31da3df4c72_1_5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1da3df4c72_1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1288" y="1423972"/>
            <a:ext cx="7509415" cy="4874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1da3df4c72_1_100"/>
          <p:cNvSpPr txBox="1"/>
          <p:nvPr/>
        </p:nvSpPr>
        <p:spPr>
          <a:xfrm>
            <a:off x="238754" y="122767"/>
            <a:ext cx="55479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Modelo Entidad Relación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g31da3df4c72_1_100"/>
          <p:cNvCxnSpPr>
            <a:stCxn id="138" idx="1"/>
          </p:cNvCxnSpPr>
          <p:nvPr/>
        </p:nvCxnSpPr>
        <p:spPr>
          <a:xfrm>
            <a:off x="238754" y="659317"/>
            <a:ext cx="5067900" cy="81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0" name="Google Shape;140;g31da3df4c72_1_100"/>
          <p:cNvSpPr txBox="1"/>
          <p:nvPr/>
        </p:nvSpPr>
        <p:spPr>
          <a:xfrm>
            <a:off x="950050" y="1314875"/>
            <a:ext cx="6258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g31da3df4c72_1_100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1da3df4c72_1_100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050" y="791325"/>
            <a:ext cx="8052149" cy="579542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1da3df4c72_1_100"/>
          <p:cNvSpPr txBox="1"/>
          <p:nvPr/>
        </p:nvSpPr>
        <p:spPr>
          <a:xfrm>
            <a:off x="9110450" y="2930200"/>
            <a:ext cx="2744700" cy="21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del manejo de la base de datos con sus relaciones y campos donde además se mostrará el recorrido del usuario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6a80c16b6_0_0"/>
          <p:cNvSpPr txBox="1"/>
          <p:nvPr>
            <p:ph type="title"/>
          </p:nvPr>
        </p:nvSpPr>
        <p:spPr>
          <a:xfrm>
            <a:off x="475725" y="10415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Implementación</a:t>
            </a:r>
            <a:r>
              <a:rPr lang="es-MX">
                <a:solidFill>
                  <a:schemeClr val="lt1"/>
                </a:solidFill>
              </a:rPr>
              <a:t> de la api rest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0" name="Google Shape;150;g2d6a80c16b6_0_0"/>
          <p:cNvSpPr txBox="1"/>
          <p:nvPr/>
        </p:nvSpPr>
        <p:spPr>
          <a:xfrm>
            <a:off x="1360275" y="2166125"/>
            <a:ext cx="8746500" cy="3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la </a:t>
            </a: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la api al </a:t>
            </a: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</a:t>
            </a: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logueos, se hizo uso de la api dividida en backend y </a:t>
            </a: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para la </a:t>
            </a: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autenticación</a:t>
            </a: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dependencias</a:t>
            </a: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hizo uso de npm.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el front end se </a:t>
            </a: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utilizó</a:t>
            </a: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react, http para el </a:t>
            </a: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servidor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hubo uso de </a:t>
            </a: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ningún</a:t>
            </a: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adicional por lo tanto cada ruta fue integrada de forma manual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g2d6a80c16b6_0_0"/>
          <p:cNvCxnSpPr/>
          <p:nvPr/>
        </p:nvCxnSpPr>
        <p:spPr>
          <a:xfrm>
            <a:off x="3933927" y="6022933"/>
            <a:ext cx="4362300" cy="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6a5ef9f46_0_0"/>
          <p:cNvSpPr txBox="1"/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Api Rest</a:t>
            </a:r>
            <a:endParaRPr/>
          </a:p>
        </p:txBody>
      </p:sp>
      <p:sp>
        <p:nvSpPr>
          <p:cNvPr id="157" name="Google Shape;157;g2d6a5ef9f46_0_0"/>
          <p:cNvSpPr txBox="1"/>
          <p:nvPr/>
        </p:nvSpPr>
        <p:spPr>
          <a:xfrm>
            <a:off x="5302400" y="1377788"/>
            <a:ext cx="22371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g2d6a5ef9f46_0_0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49" cy="85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2d6a5ef9f46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8100" y="1820346"/>
            <a:ext cx="4801474" cy="4067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2d6a5ef9f46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375" y="2726827"/>
            <a:ext cx="6913299" cy="304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2d6a5ef9f46_0_0"/>
          <p:cNvSpPr txBox="1"/>
          <p:nvPr/>
        </p:nvSpPr>
        <p:spPr>
          <a:xfrm>
            <a:off x="301975" y="1461225"/>
            <a:ext cx="6763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ómo</a:t>
            </a: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iniciar la api rest y se </a:t>
            </a: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realizó</a:t>
            </a: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react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d6a5ef9f46_2_6"/>
          <p:cNvSpPr txBox="1"/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Api rest</a:t>
            </a:r>
            <a:endParaRPr/>
          </a:p>
        </p:txBody>
      </p:sp>
      <p:sp>
        <p:nvSpPr>
          <p:cNvPr id="167" name="Google Shape;167;g2d6a5ef9f46_2_6"/>
          <p:cNvSpPr txBox="1"/>
          <p:nvPr/>
        </p:nvSpPr>
        <p:spPr>
          <a:xfrm>
            <a:off x="5302400" y="1377788"/>
            <a:ext cx="22371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g2d6a5ef9f46_2_6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49" cy="85152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2d6a5ef9f46_2_6"/>
          <p:cNvSpPr txBox="1"/>
          <p:nvPr/>
        </p:nvSpPr>
        <p:spPr>
          <a:xfrm>
            <a:off x="7272575" y="1377800"/>
            <a:ext cx="30588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código</a:t>
            </a: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g2d6a5ef9f46_2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825" y="1518863"/>
            <a:ext cx="5360110" cy="494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2d6a5ef9f46_2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3550" y="1861550"/>
            <a:ext cx="5576824" cy="455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d394cf6a0e_0_0"/>
          <p:cNvSpPr txBox="1"/>
          <p:nvPr/>
        </p:nvSpPr>
        <p:spPr>
          <a:xfrm>
            <a:off x="950054" y="581905"/>
            <a:ext cx="55479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b="0" i="0" lang="es-MX" sz="26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Encriptacion de claves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g2d394cf6a0e_0_0"/>
          <p:cNvCxnSpPr>
            <a:stCxn id="176" idx="1"/>
          </p:cNvCxnSpPr>
          <p:nvPr/>
        </p:nvCxnSpPr>
        <p:spPr>
          <a:xfrm flipH="1" rot="10800000">
            <a:off x="950054" y="1070455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8" name="Google Shape;178;g2d394cf6a0e_0_0"/>
          <p:cNvSpPr txBox="1"/>
          <p:nvPr/>
        </p:nvSpPr>
        <p:spPr>
          <a:xfrm>
            <a:off x="422200" y="1580749"/>
            <a:ext cx="71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2d394cf6a0e_0_0"/>
          <p:cNvSpPr txBox="1"/>
          <p:nvPr/>
        </p:nvSpPr>
        <p:spPr>
          <a:xfrm>
            <a:off x="502725" y="3597288"/>
            <a:ext cx="8352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la encriptacion de claves se realiza a través de 2 métodos que son PASSWORD_HASH que con el complemento PASSWORD-BCRYPT  logra como tapar y cubrir las claves y el otro es AES_ENCRYPT (). que logra lo mismo pero un poco más fácil cubrir y esconder las contraseñas  para que así ya sea con los dos métodos sean más seguros y que nadie las pueda ver solo alguien autorizada y el mismo usuario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g2d394cf6a0e_0_0"/>
          <p:cNvPicPr preferRelativeResize="0"/>
          <p:nvPr/>
        </p:nvPicPr>
        <p:blipFill rotWithShape="1">
          <a:blip r:embed="rId3">
            <a:alphaModFix amt="49000"/>
          </a:blip>
          <a:srcRect b="5480" l="5758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2d394cf6a0e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275" y="1647875"/>
            <a:ext cx="10999451" cy="51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2d394cf6a0e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725" y="3105775"/>
            <a:ext cx="11092998" cy="3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2d394cf6a0e_0_0"/>
          <p:cNvSpPr txBox="1"/>
          <p:nvPr/>
        </p:nvSpPr>
        <p:spPr>
          <a:xfrm>
            <a:off x="4757225" y="4938300"/>
            <a:ext cx="6838500" cy="17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MX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de inicio de sesión con contraseñas hash, es importante que las contraseñas se almacenan de manera segura en la base de datos utilizando el método </a:t>
            </a:r>
            <a:r>
              <a:rPr b="0" i="0" lang="es-MX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password_hash()</a:t>
            </a:r>
            <a:r>
              <a:rPr b="0" i="0" lang="es-MX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 PHP para el registro y </a:t>
            </a:r>
            <a:r>
              <a:rPr b="0" i="0" lang="es-MX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password_verify()</a:t>
            </a:r>
            <a:r>
              <a:rPr b="0" i="0" lang="es-MX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la verificación durante el inicio de sesión.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g2d394cf6a0e_0_0"/>
          <p:cNvPicPr preferRelativeResize="0"/>
          <p:nvPr/>
        </p:nvPicPr>
        <p:blipFill rotWithShape="1">
          <a:blip r:embed="rId6">
            <a:alphaModFix/>
          </a:blip>
          <a:srcRect b="0" l="0" r="19158" t="0"/>
          <a:stretch/>
        </p:blipFill>
        <p:spPr>
          <a:xfrm>
            <a:off x="596275" y="4969175"/>
            <a:ext cx="3738675" cy="85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2d394cf6a0e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2725" y="2310925"/>
            <a:ext cx="11092998" cy="44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d34a3e8246_0_1"/>
          <p:cNvSpPr txBox="1"/>
          <p:nvPr/>
        </p:nvSpPr>
        <p:spPr>
          <a:xfrm>
            <a:off x="580979" y="159155"/>
            <a:ext cx="55479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b="0" i="0" lang="es-MX" sz="26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Control de Versiones GitHub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g2d34a3e8246_0_1"/>
          <p:cNvCxnSpPr>
            <a:stCxn id="190" idx="1"/>
          </p:cNvCxnSpPr>
          <p:nvPr/>
        </p:nvCxnSpPr>
        <p:spPr>
          <a:xfrm flipH="1" rot="10800000">
            <a:off x="580979" y="647705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2" name="Google Shape;192;g2d34a3e8246_0_1"/>
          <p:cNvSpPr txBox="1"/>
          <p:nvPr/>
        </p:nvSpPr>
        <p:spPr>
          <a:xfrm>
            <a:off x="422200" y="1580749"/>
            <a:ext cx="71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2d34a3e8246_0_1"/>
          <p:cNvSpPr txBox="1"/>
          <p:nvPr/>
        </p:nvSpPr>
        <p:spPr>
          <a:xfrm>
            <a:off x="422200" y="6059750"/>
            <a:ext cx="7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g2d34a3e8246_0_1"/>
          <p:cNvPicPr preferRelativeResize="0"/>
          <p:nvPr/>
        </p:nvPicPr>
        <p:blipFill rotWithShape="1">
          <a:blip r:embed="rId3">
            <a:alphaModFix amt="49000"/>
          </a:blip>
          <a:srcRect b="5480" l="5758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g2d34a3e8246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855" y="848300"/>
            <a:ext cx="10765973" cy="5503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d6a340061f_0_0"/>
          <p:cNvSpPr txBox="1"/>
          <p:nvPr/>
        </p:nvSpPr>
        <p:spPr>
          <a:xfrm>
            <a:off x="580979" y="159155"/>
            <a:ext cx="55479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b="0" i="0" lang="es-MX" sz="26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Control de Versiones GitHub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g2d6a340061f_0_0"/>
          <p:cNvCxnSpPr>
            <a:stCxn id="200" idx="1"/>
          </p:cNvCxnSpPr>
          <p:nvPr/>
        </p:nvCxnSpPr>
        <p:spPr>
          <a:xfrm flipH="1" rot="10800000">
            <a:off x="580979" y="647705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2" name="Google Shape;202;g2d6a340061f_0_0"/>
          <p:cNvSpPr txBox="1"/>
          <p:nvPr/>
        </p:nvSpPr>
        <p:spPr>
          <a:xfrm>
            <a:off x="422200" y="1580749"/>
            <a:ext cx="71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2d6a340061f_0_0"/>
          <p:cNvSpPr txBox="1"/>
          <p:nvPr/>
        </p:nvSpPr>
        <p:spPr>
          <a:xfrm>
            <a:off x="422200" y="6059750"/>
            <a:ext cx="7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g2d6a340061f_0_0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49" cy="85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2d6a340061f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975" y="848300"/>
            <a:ext cx="10321321" cy="5611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210" name="Google Shape;21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2024-03-15T00:49:27Z</dcterms:created>
  <dc:creator>Carlos Andrés Herrera Mora</dc:creator>
</cp:coreProperties>
</file>