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Work Sans Medium"/>
      <p:regular r:id="rId29"/>
      <p:bold r:id="rId30"/>
      <p:italic r:id="rId31"/>
      <p:boldItalic r:id="rId32"/>
    </p:embeddedFont>
    <p:embeddedFont>
      <p:font typeface="Work Sans Light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i3IMQPRsYzVwcuDsUuyU3gFWAE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WorkSans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WorkSansMedium-italic.fntdata"/><Relationship Id="rId30" Type="http://schemas.openxmlformats.org/officeDocument/2006/relationships/font" Target="fonts/WorkSansMedium-bold.fntdata"/><Relationship Id="rId11" Type="http://schemas.openxmlformats.org/officeDocument/2006/relationships/slide" Target="slides/slide7.xml"/><Relationship Id="rId33" Type="http://schemas.openxmlformats.org/officeDocument/2006/relationships/font" Target="fonts/WorkSansLight-regular.fntdata"/><Relationship Id="rId10" Type="http://schemas.openxmlformats.org/officeDocument/2006/relationships/slide" Target="slides/slide6.xml"/><Relationship Id="rId32" Type="http://schemas.openxmlformats.org/officeDocument/2006/relationships/font" Target="fonts/WorkSansMedium-boldItalic.fntdata"/><Relationship Id="rId13" Type="http://schemas.openxmlformats.org/officeDocument/2006/relationships/slide" Target="slides/slide9.xml"/><Relationship Id="rId35" Type="http://schemas.openxmlformats.org/officeDocument/2006/relationships/font" Target="fonts/WorkSansLight-italic.fntdata"/><Relationship Id="rId12" Type="http://schemas.openxmlformats.org/officeDocument/2006/relationships/slide" Target="slides/slide8.xml"/><Relationship Id="rId34" Type="http://schemas.openxmlformats.org/officeDocument/2006/relationships/font" Target="fonts/WorkSansLight-bold.fntdata"/><Relationship Id="rId15" Type="http://schemas.openxmlformats.org/officeDocument/2006/relationships/slide" Target="slides/slide11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10.xml"/><Relationship Id="rId36" Type="http://schemas.openxmlformats.org/officeDocument/2006/relationships/font" Target="fonts/WorkSansLight-boldItalic.fntdata"/><Relationship Id="rId17" Type="http://schemas.openxmlformats.org/officeDocument/2006/relationships/slide" Target="slides/slide13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2.xml"/><Relationship Id="rId38" Type="http://schemas.openxmlformats.org/officeDocument/2006/relationships/font" Target="fonts/RobotoMon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94a6dd43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g2c94a6dd43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346a63a52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5" name="Google Shape;135;g2d346a63a52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333e9beda_2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8" name="Google Shape;178;g2d333e9beda_2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333e9beda_2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g2d333e9beda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333e9beda_2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5" name="Google Shape;205;g2d333e9beda_2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333e9beda_2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8" name="Google Shape;218;g2d333e9beda_2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d34a3e8246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4" name="Google Shape;234;g2d34a3e824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394cf6a0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0" name="Google Shape;250;g2d394cf6a0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394cf6a0e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g2d394cf6a0e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38bc46ca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8" name="Google Shape;278;g2d38bc46ca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d3b03ef00d_5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1" name="Google Shape;301;g2d3b03ef00d_5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f50ce62b93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1" name="Google Shape;311;g1f50ce62b93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3b03ef00d_5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2" name="Google Shape;322;g2d3b03ef00d_5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34a3e824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3" name="Google Shape;333;g2d34a3e824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39012bb5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3" name="Google Shape;343;g2d39012bb5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hyperlink" Target="https://app.diagrams.net/#G1LXSZSbOSQvHd7jovTHu_NSUMqzcplW2N#%7B%22pageId%22%3A%22prtHgNgQTEPvFCAcTncT%22%7D" TargetMode="External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hyperlink" Target="https://drive.google.com/drive/u/0/folders/14KoA5js0yyb1umzt9et-THnqe35RKO-R" TargetMode="External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hyperlink" Target="https://app.luminpdf.com/es/viewer/66eb341194057ced524ce6ac?credentials-id=3028ce08-b597-446a-8581-786bb937f773" TargetMode="External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45.png"/><Relationship Id="rId5" Type="http://schemas.openxmlformats.org/officeDocument/2006/relationships/image" Target="../media/image44.png"/><Relationship Id="rId6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Relationship Id="rId4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Relationship Id="rId4" Type="http://schemas.openxmlformats.org/officeDocument/2006/relationships/image" Target="../media/image36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Relationship Id="rId4" Type="http://schemas.openxmlformats.org/officeDocument/2006/relationships/image" Target="../media/image35.png"/><Relationship Id="rId5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Relationship Id="rId4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Relationship Id="rId4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Relationship Id="rId4" Type="http://schemas.openxmlformats.org/officeDocument/2006/relationships/hyperlink" Target="https://github.com/Alejo9009/SETS.git" TargetMode="External"/><Relationship Id="rId5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Relationship Id="rId4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ndow" id="96" name="Google Shape;96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470" y="206391"/>
            <a:ext cx="11891530" cy="14803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8379651" y="5923450"/>
            <a:ext cx="344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 </a:t>
            </a:r>
            <a:endParaRPr b="0" i="0" sz="1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Tercer Trimestre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5481" l="5759" r="10044" t="2859"/>
          <a:stretch/>
        </p:blipFill>
        <p:spPr>
          <a:xfrm>
            <a:off x="4309013" y="1970700"/>
            <a:ext cx="3573975" cy="34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463322" y="3389050"/>
            <a:ext cx="405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Yeider Santiago Briceño Sicacha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Yensy Karina Caballero  Castro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Alejandro Pirazan Esquivel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1188" y="2311338"/>
            <a:ext cx="4621925" cy="30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94a6dd43f_1_0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>
                <a:solidFill>
                  <a:schemeClr val="lt1"/>
                </a:solidFill>
              </a:rPr>
              <a:t>Introducción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12" name="Google Shape;112;g2c94a6dd43f_1_0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c94a6dd43f_1_0"/>
          <p:cNvSpPr txBox="1"/>
          <p:nvPr/>
        </p:nvSpPr>
        <p:spPr>
          <a:xfrm>
            <a:off x="4765150" y="2802150"/>
            <a:ext cx="52305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Gracias al proceso de </a:t>
            </a:r>
            <a:r>
              <a:rPr lang="es-MX" sz="1500">
                <a:solidFill>
                  <a:schemeClr val="dk1"/>
                </a:solidFill>
              </a:rPr>
              <a:t>recopilación</a:t>
            </a:r>
            <a:r>
              <a:rPr lang="es-MX" sz="1500">
                <a:solidFill>
                  <a:schemeClr val="dk1"/>
                </a:solidFill>
              </a:rPr>
              <a:t> de </a:t>
            </a:r>
            <a:r>
              <a:rPr lang="es-MX" sz="1500">
                <a:solidFill>
                  <a:schemeClr val="dk1"/>
                </a:solidFill>
              </a:rPr>
              <a:t>información</a:t>
            </a:r>
            <a:r>
              <a:rPr lang="es-MX" sz="1500">
                <a:solidFill>
                  <a:schemeClr val="dk1"/>
                </a:solidFill>
              </a:rPr>
              <a:t> mediante una encuesta la cual nos </a:t>
            </a:r>
            <a:r>
              <a:rPr lang="es-MX" sz="1500">
                <a:solidFill>
                  <a:schemeClr val="dk1"/>
                </a:solidFill>
              </a:rPr>
              <a:t>logró</a:t>
            </a:r>
            <a:r>
              <a:rPr lang="es-MX" sz="1500">
                <a:solidFill>
                  <a:schemeClr val="dk1"/>
                </a:solidFill>
              </a:rPr>
              <a:t> resaltar varias falencias de conjuntos </a:t>
            </a:r>
            <a:r>
              <a:rPr lang="es-MX" sz="1500">
                <a:solidFill>
                  <a:schemeClr val="dk1"/>
                </a:solidFill>
              </a:rPr>
              <a:t>residenciales</a:t>
            </a:r>
            <a:r>
              <a:rPr lang="es-MX" sz="1500">
                <a:solidFill>
                  <a:schemeClr val="dk1"/>
                </a:solidFill>
              </a:rPr>
              <a:t>, detectamos que los procesos administrativos no eran muy </a:t>
            </a:r>
            <a:r>
              <a:rPr lang="es-MX" sz="1500">
                <a:solidFill>
                  <a:schemeClr val="dk1"/>
                </a:solidFill>
              </a:rPr>
              <a:t>reconocidos</a:t>
            </a:r>
            <a:r>
              <a:rPr lang="es-MX" sz="1500">
                <a:solidFill>
                  <a:schemeClr val="dk1"/>
                </a:solidFill>
              </a:rPr>
              <a:t> a la vista de los residentes lo cual causaba una cadena de malentendidos que </a:t>
            </a:r>
            <a:r>
              <a:rPr lang="es-MX" sz="1500">
                <a:solidFill>
                  <a:schemeClr val="dk1"/>
                </a:solidFill>
              </a:rPr>
              <a:t>afectan</a:t>
            </a:r>
            <a:r>
              <a:rPr lang="es-MX" sz="1500">
                <a:solidFill>
                  <a:schemeClr val="dk1"/>
                </a:solidFill>
              </a:rPr>
              <a:t> al buen desarrollo de una propiedad horizontal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g2c94a6dd43f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6325" y="2639743"/>
            <a:ext cx="2143125" cy="214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g2c94a6dd43f_1_0"/>
          <p:cNvCxnSpPr/>
          <p:nvPr/>
        </p:nvCxnSpPr>
        <p:spPr>
          <a:xfrm>
            <a:off x="4847352" y="4620458"/>
            <a:ext cx="7200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/>
          </a:p>
        </p:txBody>
      </p:sp>
      <p:cxnSp>
        <p:nvCxnSpPr>
          <p:cNvPr id="121" name="Google Shape;121;p3"/>
          <p:cNvCxnSpPr/>
          <p:nvPr/>
        </p:nvCxnSpPr>
        <p:spPr>
          <a:xfrm>
            <a:off x="4561327" y="4751333"/>
            <a:ext cx="7200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3"/>
          <p:cNvSpPr txBox="1"/>
          <p:nvPr/>
        </p:nvSpPr>
        <p:spPr>
          <a:xfrm>
            <a:off x="5281319" y="3069749"/>
            <a:ext cx="60960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software sets le permitirá </a:t>
            </a:r>
            <a:r>
              <a:rPr lang="es-MX" sz="1500">
                <a:solidFill>
                  <a:schemeClr val="dk1"/>
                </a:solidFill>
              </a:rPr>
              <a:t>gestionar</a:t>
            </a: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procesos de</a:t>
            </a:r>
            <a:r>
              <a:rPr lang="es-MX" sz="1500">
                <a:solidFill>
                  <a:schemeClr val="dk1"/>
                </a:solidFill>
              </a:rPr>
              <a:t> </a:t>
            </a: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propiedad horizontal  enfocándo</a:t>
            </a:r>
            <a:r>
              <a:rPr lang="es-MX" sz="1500">
                <a:solidFill>
                  <a:schemeClr val="dk1"/>
                </a:solidFill>
              </a:rPr>
              <a:t>se</a:t>
            </a: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la comunicación entre el administrador y el residente, reducir el tiempo para algun</a:t>
            </a:r>
            <a:r>
              <a:rPr lang="es-MX" sz="1500">
                <a:solidFill>
                  <a:schemeClr val="dk1"/>
                </a:solidFill>
              </a:rPr>
              <a:t>os procesos</a:t>
            </a: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donde el administrador modifica, facilitara y gestionará los sistemas de comunicación del residente de manera eficiente segura y transparente.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0875" y="2754547"/>
            <a:ext cx="2379925" cy="237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/>
        </p:nvSpPr>
        <p:spPr>
          <a:xfrm>
            <a:off x="950054" y="57515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Relacional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>
            <a:stCxn id="129" idx="1"/>
          </p:cNvCxnSpPr>
          <p:nvPr/>
        </p:nvCxnSpPr>
        <p:spPr>
          <a:xfrm flipH="1" rot="10800000">
            <a:off x="950054" y="1098205"/>
            <a:ext cx="5004000" cy="135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1011000" y="5941625"/>
            <a:ext cx="1018425" cy="8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263" y="1369375"/>
            <a:ext cx="10583475" cy="49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346a63a52_0_2"/>
          <p:cNvSpPr txBox="1"/>
          <p:nvPr/>
        </p:nvSpPr>
        <p:spPr>
          <a:xfrm>
            <a:off x="238754" y="12276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Entidad </a:t>
            </a: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Relación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g2d346a63a52_0_2"/>
          <p:cNvCxnSpPr>
            <a:stCxn id="137" idx="1"/>
          </p:cNvCxnSpPr>
          <p:nvPr/>
        </p:nvCxnSpPr>
        <p:spPr>
          <a:xfrm>
            <a:off x="238754" y="659317"/>
            <a:ext cx="5067900" cy="81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g2d346a63a52_0_2"/>
          <p:cNvSpPr txBox="1"/>
          <p:nvPr/>
        </p:nvSpPr>
        <p:spPr>
          <a:xfrm>
            <a:off x="950050" y="1314875"/>
            <a:ext cx="62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2d346a63a52_0_2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d346a63a52_0_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325" y="791325"/>
            <a:ext cx="8052149" cy="579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d346a63a52_0_2"/>
          <p:cNvSpPr txBox="1"/>
          <p:nvPr/>
        </p:nvSpPr>
        <p:spPr>
          <a:xfrm>
            <a:off x="9110450" y="2930200"/>
            <a:ext cx="2744700" cy="21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del manejo de la base de datos con sus relaciones y campos donde </a:t>
            </a: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</a:t>
            </a: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mostrará</a:t>
            </a: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recorrido del usuario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Backup.sql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6"/>
          <p:cNvCxnSpPr>
            <a:stCxn id="147" idx="1"/>
          </p:cNvCxnSpPr>
          <p:nvPr/>
        </p:nvCxnSpPr>
        <p:spPr>
          <a:xfrm>
            <a:off x="950054" y="1142432"/>
            <a:ext cx="5067900" cy="81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6"/>
          <p:cNvSpPr txBox="1"/>
          <p:nvPr/>
        </p:nvSpPr>
        <p:spPr>
          <a:xfrm>
            <a:off x="950050" y="1314875"/>
            <a:ext cx="62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1288" y="1423972"/>
            <a:ext cx="7509415" cy="4874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950054" y="33986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Diccionario de Datos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950054" y="812492"/>
            <a:ext cx="5031300" cy="93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7"/>
          <p:cNvSpPr txBox="1"/>
          <p:nvPr/>
        </p:nvSpPr>
        <p:spPr>
          <a:xfrm>
            <a:off x="1006877" y="2155363"/>
            <a:ext cx="51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862" l="1512" r="1503" t="0"/>
          <a:stretch/>
        </p:blipFill>
        <p:spPr>
          <a:xfrm>
            <a:off x="1034275" y="970975"/>
            <a:ext cx="5093176" cy="528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/>
        </p:nvSpPr>
        <p:spPr>
          <a:xfrm>
            <a:off x="7074800" y="2778700"/>
            <a:ext cx="4463700" cy="15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diccionario de datos se visualiza las tablas , relaciones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muestran los campos de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tabla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 se visualizan las vi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stas  de cada tabla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950051" y="605923"/>
            <a:ext cx="4830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Datos (Insert)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4"/>
          <p:cNvCxnSpPr/>
          <p:nvPr/>
        </p:nvCxnSpPr>
        <p:spPr>
          <a:xfrm flipH="1" rot="10800000">
            <a:off x="950051" y="1104823"/>
            <a:ext cx="5067900" cy="3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238" y="1955475"/>
            <a:ext cx="10299526" cy="4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4"/>
          <p:cNvPicPr preferRelativeResize="0"/>
          <p:nvPr/>
        </p:nvPicPr>
        <p:blipFill rotWithShape="1">
          <a:blip r:embed="rId5">
            <a:alphaModFix/>
          </a:blip>
          <a:srcRect b="3132" l="0" r="0" t="6065"/>
          <a:stretch/>
        </p:blipFill>
        <p:spPr>
          <a:xfrm>
            <a:off x="946250" y="3523025"/>
            <a:ext cx="6857550" cy="6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 txBox="1"/>
          <p:nvPr/>
        </p:nvSpPr>
        <p:spPr>
          <a:xfrm>
            <a:off x="4129950" y="1358950"/>
            <a:ext cx="3783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4018500" y="1279950"/>
            <a:ext cx="40065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a un parqueadero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6250" y="5366175"/>
            <a:ext cx="9931947" cy="5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 txBox="1"/>
          <p:nvPr/>
        </p:nvSpPr>
        <p:spPr>
          <a:xfrm>
            <a:off x="4092750" y="2831350"/>
            <a:ext cx="40065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de una zona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común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4092750" y="4498300"/>
            <a:ext cx="40065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de un apartamento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333e9beda_2_47"/>
          <p:cNvSpPr txBox="1"/>
          <p:nvPr/>
        </p:nvSpPr>
        <p:spPr>
          <a:xfrm>
            <a:off x="950051" y="605923"/>
            <a:ext cx="4830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Datos (Insert)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2d333e9beda_2_47"/>
          <p:cNvCxnSpPr/>
          <p:nvPr/>
        </p:nvCxnSpPr>
        <p:spPr>
          <a:xfrm flipH="1" rot="10800000">
            <a:off x="950051" y="1104823"/>
            <a:ext cx="5067900" cy="3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2" name="Google Shape;182;g2d333e9beda_2_47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d333e9beda_2_47"/>
          <p:cNvSpPr txBox="1"/>
          <p:nvPr/>
        </p:nvSpPr>
        <p:spPr>
          <a:xfrm>
            <a:off x="4129950" y="1587550"/>
            <a:ext cx="3783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2d333e9beda_2_47"/>
          <p:cNvSpPr txBox="1"/>
          <p:nvPr/>
        </p:nvSpPr>
        <p:spPr>
          <a:xfrm>
            <a:off x="4018500" y="1508550"/>
            <a:ext cx="40065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a una torre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2d333e9beda_2_47"/>
          <p:cNvSpPr txBox="1"/>
          <p:nvPr/>
        </p:nvSpPr>
        <p:spPr>
          <a:xfrm>
            <a:off x="4629575" y="3042375"/>
            <a:ext cx="40065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a un piso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g2d333e9beda_2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5250" y="2346221"/>
            <a:ext cx="6944339" cy="5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2d333e9beda_2_47"/>
          <p:cNvPicPr preferRelativeResize="0"/>
          <p:nvPr/>
        </p:nvPicPr>
        <p:blipFill rotWithShape="1">
          <a:blip r:embed="rId5">
            <a:alphaModFix/>
          </a:blip>
          <a:srcRect b="0" l="0" r="0" t="7381"/>
          <a:stretch/>
        </p:blipFill>
        <p:spPr>
          <a:xfrm>
            <a:off x="2556675" y="3738525"/>
            <a:ext cx="7204675" cy="5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d333e9beda_2_47"/>
          <p:cNvSpPr txBox="1"/>
          <p:nvPr/>
        </p:nvSpPr>
        <p:spPr>
          <a:xfrm>
            <a:off x="4629575" y="4539775"/>
            <a:ext cx="40065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para un anuncio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g2d333e9beda_2_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8300" y="5193125"/>
            <a:ext cx="915352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333e9beda_2_2"/>
          <p:cNvSpPr txBox="1"/>
          <p:nvPr/>
        </p:nvSpPr>
        <p:spPr>
          <a:xfrm>
            <a:off x="831804" y="25471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Datos (vista)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g2d333e9beda_2_2"/>
          <p:cNvCxnSpPr>
            <a:stCxn id="194" idx="1"/>
          </p:cNvCxnSpPr>
          <p:nvPr/>
        </p:nvCxnSpPr>
        <p:spPr>
          <a:xfrm flipH="1" rot="10800000">
            <a:off x="831804" y="743267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6" name="Google Shape;196;g2d333e9beda_2_2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2d333e9beda_2_2"/>
          <p:cNvSpPr txBox="1"/>
          <p:nvPr/>
        </p:nvSpPr>
        <p:spPr>
          <a:xfrm>
            <a:off x="3595525" y="897525"/>
            <a:ext cx="37836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Anuncios por fecha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2d333e9beda_2_2"/>
          <p:cNvPicPr preferRelativeResize="0"/>
          <p:nvPr/>
        </p:nvPicPr>
        <p:blipFill rotWithShape="1">
          <a:blip r:embed="rId4">
            <a:alphaModFix/>
          </a:blip>
          <a:srcRect b="31334" l="0" r="7935" t="3069"/>
          <a:stretch/>
        </p:blipFill>
        <p:spPr>
          <a:xfrm>
            <a:off x="989950" y="1487788"/>
            <a:ext cx="8994725" cy="10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2d333e9beda_2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4588" y="3209400"/>
            <a:ext cx="8945451" cy="114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2d333e9beda_2_2"/>
          <p:cNvSpPr txBox="1"/>
          <p:nvPr/>
        </p:nvSpPr>
        <p:spPr>
          <a:xfrm>
            <a:off x="2478138" y="2483675"/>
            <a:ext cx="6611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Apartamento por </a:t>
            </a: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piso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2d333e9beda_2_2"/>
          <p:cNvPicPr preferRelativeResize="0"/>
          <p:nvPr/>
        </p:nvPicPr>
        <p:blipFill rotWithShape="1">
          <a:blip r:embed="rId6">
            <a:alphaModFix/>
          </a:blip>
          <a:srcRect b="16036" l="0" r="0" t="0"/>
          <a:stretch/>
        </p:blipFill>
        <p:spPr>
          <a:xfrm>
            <a:off x="1014600" y="5001850"/>
            <a:ext cx="7234499" cy="13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d333e9beda_2_2"/>
          <p:cNvSpPr txBox="1"/>
          <p:nvPr/>
        </p:nvSpPr>
        <p:spPr>
          <a:xfrm>
            <a:off x="4163244" y="4414538"/>
            <a:ext cx="32415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  con su  registro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d333e9beda_2_30"/>
          <p:cNvSpPr txBox="1"/>
          <p:nvPr/>
        </p:nvSpPr>
        <p:spPr>
          <a:xfrm>
            <a:off x="841679" y="18221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Datos Vistas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2d333e9beda_2_30"/>
          <p:cNvCxnSpPr>
            <a:stCxn id="207" idx="1"/>
          </p:cNvCxnSpPr>
          <p:nvPr/>
        </p:nvCxnSpPr>
        <p:spPr>
          <a:xfrm flipH="1" rot="10800000">
            <a:off x="841679" y="670767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9" name="Google Shape;209;g2d333e9beda_2_30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2d333e9beda_2_30"/>
          <p:cNvSpPr txBox="1"/>
          <p:nvPr/>
        </p:nvSpPr>
        <p:spPr>
          <a:xfrm>
            <a:off x="2354975" y="896625"/>
            <a:ext cx="72915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Solicitud de Parqueaderos si están disponibles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2d333e9beda_2_30"/>
          <p:cNvSpPr txBox="1"/>
          <p:nvPr/>
        </p:nvSpPr>
        <p:spPr>
          <a:xfrm>
            <a:off x="2694875" y="2651500"/>
            <a:ext cx="6611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Solicitud de Zona por Apartamento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g2d333e9beda_2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038" y="1436075"/>
            <a:ext cx="10493925" cy="114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d333e9beda_2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0475" y="3172875"/>
            <a:ext cx="8648700" cy="12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2d333e9beda_2_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9050" y="5010900"/>
            <a:ext cx="6267450" cy="11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2d333e9beda_2_30"/>
          <p:cNvSpPr txBox="1"/>
          <p:nvPr/>
        </p:nvSpPr>
        <p:spPr>
          <a:xfrm>
            <a:off x="7153250" y="5236375"/>
            <a:ext cx="35280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teléfonos</a:t>
            </a: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segun su persona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333e9beda_2_11"/>
          <p:cNvSpPr txBox="1"/>
          <p:nvPr/>
        </p:nvSpPr>
        <p:spPr>
          <a:xfrm>
            <a:off x="812104" y="132942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Datos Procedimientos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2d333e9beda_2_11"/>
          <p:cNvCxnSpPr>
            <a:stCxn id="220" idx="1"/>
          </p:cNvCxnSpPr>
          <p:nvPr/>
        </p:nvCxnSpPr>
        <p:spPr>
          <a:xfrm flipH="1" rot="10800000">
            <a:off x="812104" y="62149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2" name="Google Shape;222;g2d333e9beda_2_11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2d333e9beda_2_11"/>
          <p:cNvSpPr txBox="1"/>
          <p:nvPr/>
        </p:nvSpPr>
        <p:spPr>
          <a:xfrm>
            <a:off x="2884650" y="621500"/>
            <a:ext cx="72915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Procedimientos almacenados de  de tabla Torre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2d333e9beda_2_11"/>
          <p:cNvSpPr txBox="1"/>
          <p:nvPr/>
        </p:nvSpPr>
        <p:spPr>
          <a:xfrm>
            <a:off x="1977300" y="3326125"/>
            <a:ext cx="14628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2d333e9beda_2_11"/>
          <p:cNvSpPr txBox="1"/>
          <p:nvPr/>
        </p:nvSpPr>
        <p:spPr>
          <a:xfrm>
            <a:off x="7518750" y="1385150"/>
            <a:ext cx="2657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g2d333e9beda_2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425" y="1311467"/>
            <a:ext cx="39624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2d333e9beda_2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6175" y="1814750"/>
            <a:ext cx="3990975" cy="20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2d333e9beda_2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575" y="4536925"/>
            <a:ext cx="57912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d333e9beda_2_11"/>
          <p:cNvSpPr txBox="1"/>
          <p:nvPr/>
        </p:nvSpPr>
        <p:spPr>
          <a:xfrm>
            <a:off x="1380000" y="6113100"/>
            <a:ext cx="2657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g2d333e9beda_2_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11375" y="4659675"/>
            <a:ext cx="3782700" cy="19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d333e9beda_2_11"/>
          <p:cNvSpPr txBox="1"/>
          <p:nvPr/>
        </p:nvSpPr>
        <p:spPr>
          <a:xfrm>
            <a:off x="7644325" y="4107325"/>
            <a:ext cx="2657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34a3e8246_0_22"/>
          <p:cNvSpPr txBox="1"/>
          <p:nvPr/>
        </p:nvSpPr>
        <p:spPr>
          <a:xfrm>
            <a:off x="812104" y="132942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Datos Procedimientos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2d34a3e8246_0_22"/>
          <p:cNvCxnSpPr>
            <a:stCxn id="236" idx="1"/>
          </p:cNvCxnSpPr>
          <p:nvPr/>
        </p:nvCxnSpPr>
        <p:spPr>
          <a:xfrm flipH="1" rot="10800000">
            <a:off x="812104" y="62149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8" name="Google Shape;238;g2d34a3e8246_0_22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d34a3e8246_0_22"/>
          <p:cNvSpPr txBox="1"/>
          <p:nvPr/>
        </p:nvSpPr>
        <p:spPr>
          <a:xfrm>
            <a:off x="2884650" y="621500"/>
            <a:ext cx="72915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Procedimientos almacenados de  de tabla Torre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2d34a3e8246_0_22"/>
          <p:cNvSpPr txBox="1"/>
          <p:nvPr/>
        </p:nvSpPr>
        <p:spPr>
          <a:xfrm>
            <a:off x="1809450" y="3457950"/>
            <a:ext cx="14628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2d34a3e8246_0_22"/>
          <p:cNvSpPr txBox="1"/>
          <p:nvPr/>
        </p:nvSpPr>
        <p:spPr>
          <a:xfrm>
            <a:off x="8223350" y="1066450"/>
            <a:ext cx="2657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2d34a3e8246_0_22"/>
          <p:cNvSpPr txBox="1"/>
          <p:nvPr/>
        </p:nvSpPr>
        <p:spPr>
          <a:xfrm>
            <a:off x="1702100" y="5730600"/>
            <a:ext cx="2657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2d34a3e8246_0_22"/>
          <p:cNvSpPr txBox="1"/>
          <p:nvPr/>
        </p:nvSpPr>
        <p:spPr>
          <a:xfrm>
            <a:off x="7644325" y="4107325"/>
            <a:ext cx="2657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g2d34a3e8246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75" y="1253290"/>
            <a:ext cx="5158200" cy="20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2d34a3e8246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2650" y="1544663"/>
            <a:ext cx="46863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2d34a3e8246_0_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408550"/>
            <a:ext cx="619125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2d34a3e8246_0_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1725" y="4526425"/>
            <a:ext cx="3812148" cy="20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394cf6a0e_0_0"/>
          <p:cNvSpPr txBox="1"/>
          <p:nvPr/>
        </p:nvSpPr>
        <p:spPr>
          <a:xfrm>
            <a:off x="950054" y="58190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Encriptacion</a:t>
            </a: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de claves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g2d394cf6a0e_0_0"/>
          <p:cNvCxnSpPr>
            <a:stCxn id="252" idx="1"/>
          </p:cNvCxnSpPr>
          <p:nvPr/>
        </p:nvCxnSpPr>
        <p:spPr>
          <a:xfrm flipH="1" rot="10800000">
            <a:off x="950054" y="107045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g2d394cf6a0e_0_0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2d394cf6a0e_0_0"/>
          <p:cNvSpPr txBox="1"/>
          <p:nvPr/>
        </p:nvSpPr>
        <p:spPr>
          <a:xfrm>
            <a:off x="502725" y="3597288"/>
            <a:ext cx="8352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En la encriptacion de claves se realiza </a:t>
            </a:r>
            <a:r>
              <a:rPr lang="es-MX">
                <a:solidFill>
                  <a:schemeClr val="dk1"/>
                </a:solidFill>
              </a:rPr>
              <a:t>a través</a:t>
            </a:r>
            <a:r>
              <a:rPr lang="es-MX">
                <a:solidFill>
                  <a:schemeClr val="dk1"/>
                </a:solidFill>
              </a:rPr>
              <a:t> de 2 </a:t>
            </a:r>
            <a:r>
              <a:rPr lang="es-MX">
                <a:solidFill>
                  <a:schemeClr val="dk1"/>
                </a:solidFill>
              </a:rPr>
              <a:t>métodos</a:t>
            </a:r>
            <a:r>
              <a:rPr lang="es-MX">
                <a:solidFill>
                  <a:schemeClr val="dk1"/>
                </a:solidFill>
              </a:rPr>
              <a:t> que son PASSWORD_HASH que con el complemento PASSWORD-BCRYPT  logra como tapar y cubrir las claves y el otro es AES_ENCRYPT (). que logra lo mismo pero un poco </a:t>
            </a:r>
            <a:r>
              <a:rPr lang="es-MX">
                <a:solidFill>
                  <a:schemeClr val="dk1"/>
                </a:solidFill>
              </a:rPr>
              <a:t>más</a:t>
            </a:r>
            <a:r>
              <a:rPr lang="es-MX">
                <a:solidFill>
                  <a:schemeClr val="dk1"/>
                </a:solidFill>
              </a:rPr>
              <a:t> </a:t>
            </a:r>
            <a:r>
              <a:rPr lang="es-MX">
                <a:solidFill>
                  <a:schemeClr val="dk1"/>
                </a:solidFill>
              </a:rPr>
              <a:t>fácil</a:t>
            </a:r>
            <a:r>
              <a:rPr lang="es-MX">
                <a:solidFill>
                  <a:schemeClr val="dk1"/>
                </a:solidFill>
              </a:rPr>
              <a:t> cubrir y </a:t>
            </a:r>
            <a:r>
              <a:rPr lang="es-MX">
                <a:solidFill>
                  <a:schemeClr val="dk1"/>
                </a:solidFill>
              </a:rPr>
              <a:t>esconder</a:t>
            </a:r>
            <a:r>
              <a:rPr lang="es-MX">
                <a:solidFill>
                  <a:schemeClr val="dk1"/>
                </a:solidFill>
              </a:rPr>
              <a:t> las contraseñas  para que </a:t>
            </a:r>
            <a:r>
              <a:rPr lang="es-MX">
                <a:solidFill>
                  <a:schemeClr val="dk1"/>
                </a:solidFill>
              </a:rPr>
              <a:t>así</a:t>
            </a:r>
            <a:r>
              <a:rPr lang="es-MX">
                <a:solidFill>
                  <a:schemeClr val="dk1"/>
                </a:solidFill>
              </a:rPr>
              <a:t> ya sea con los dos </a:t>
            </a:r>
            <a:r>
              <a:rPr lang="es-MX">
                <a:solidFill>
                  <a:schemeClr val="dk1"/>
                </a:solidFill>
              </a:rPr>
              <a:t>métodos</a:t>
            </a:r>
            <a:r>
              <a:rPr lang="es-MX">
                <a:solidFill>
                  <a:schemeClr val="dk1"/>
                </a:solidFill>
              </a:rPr>
              <a:t> sean </a:t>
            </a:r>
            <a:r>
              <a:rPr lang="es-MX">
                <a:solidFill>
                  <a:schemeClr val="dk1"/>
                </a:solidFill>
              </a:rPr>
              <a:t>más</a:t>
            </a:r>
            <a:r>
              <a:rPr lang="es-MX">
                <a:solidFill>
                  <a:schemeClr val="dk1"/>
                </a:solidFill>
              </a:rPr>
              <a:t> seguros y que nadie las pueda ver solo alguien autorizada y el mismo usuario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6" name="Google Shape;256;g2d394cf6a0e_0_0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2d394cf6a0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75" y="1647875"/>
            <a:ext cx="10999451" cy="51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2d394cf6a0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725" y="2498800"/>
            <a:ext cx="1109300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2d394cf6a0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725" y="3105775"/>
            <a:ext cx="11092998" cy="3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d394cf6a0e_0_0"/>
          <p:cNvSpPr txBox="1"/>
          <p:nvPr/>
        </p:nvSpPr>
        <p:spPr>
          <a:xfrm>
            <a:off x="4757225" y="4938300"/>
            <a:ext cx="68385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</a:rPr>
              <a:t>el sistema de inicio de sesión con contraseñas hash, es importante que las contraseñas se </a:t>
            </a:r>
            <a:r>
              <a:rPr lang="es-MX" sz="1100">
                <a:solidFill>
                  <a:schemeClr val="dk1"/>
                </a:solidFill>
              </a:rPr>
              <a:t>almacenan</a:t>
            </a:r>
            <a:r>
              <a:rPr lang="es-MX" sz="1100">
                <a:solidFill>
                  <a:schemeClr val="dk1"/>
                </a:solidFill>
              </a:rPr>
              <a:t> de manera segura en la base de datos utilizando el método </a:t>
            </a:r>
            <a:r>
              <a:rPr lang="es-MX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password_hash()</a:t>
            </a:r>
            <a:r>
              <a:rPr lang="es-MX" sz="1100">
                <a:solidFill>
                  <a:schemeClr val="dk1"/>
                </a:solidFill>
              </a:rPr>
              <a:t> en PHP para el registro y </a:t>
            </a:r>
            <a:r>
              <a:rPr lang="es-MX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password_verify()</a:t>
            </a:r>
            <a:r>
              <a:rPr lang="es-MX" sz="1100">
                <a:solidFill>
                  <a:schemeClr val="dk1"/>
                </a:solidFill>
              </a:rPr>
              <a:t> para la verificación durante el inicio de sesión.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g2d394cf6a0e_0_0"/>
          <p:cNvPicPr preferRelativeResize="0"/>
          <p:nvPr/>
        </p:nvPicPr>
        <p:blipFill rotWithShape="1">
          <a:blip r:embed="rId7">
            <a:alphaModFix/>
          </a:blip>
          <a:srcRect b="0" l="0" r="19159" t="0"/>
          <a:stretch/>
        </p:blipFill>
        <p:spPr>
          <a:xfrm>
            <a:off x="596275" y="4969175"/>
            <a:ext cx="3738675" cy="8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394cf6a0e_0_12"/>
          <p:cNvSpPr txBox="1"/>
          <p:nvPr/>
        </p:nvSpPr>
        <p:spPr>
          <a:xfrm>
            <a:off x="950054" y="58190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Creación de user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g2d394cf6a0e_0_12"/>
          <p:cNvCxnSpPr>
            <a:stCxn id="266" idx="1"/>
          </p:cNvCxnSpPr>
          <p:nvPr/>
        </p:nvCxnSpPr>
        <p:spPr>
          <a:xfrm flipH="1" rot="10800000">
            <a:off x="950054" y="107045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8" name="Google Shape;268;g2d394cf6a0e_0_12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2d394cf6a0e_0_12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2d394cf6a0e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625" y="1463175"/>
            <a:ext cx="60982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2d394cf6a0e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5625" y="2312725"/>
            <a:ext cx="60982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2d394cf6a0e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3275" y="3286675"/>
            <a:ext cx="60982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2d394cf6a0e_0_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4250" y="1968000"/>
            <a:ext cx="4156024" cy="22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2d394cf6a0e_0_12"/>
          <p:cNvSpPr txBox="1"/>
          <p:nvPr/>
        </p:nvSpPr>
        <p:spPr>
          <a:xfrm>
            <a:off x="674800" y="4120625"/>
            <a:ext cx="60984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reación de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usuarios  que 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podrán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modificar la base de datos 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través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mysql o desde las vistas del aplicativo web en donde se 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tendrán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tres principales que son admi  , administrador y residente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2d394cf6a0e_0_12"/>
          <p:cNvSpPr txBox="1"/>
          <p:nvPr/>
        </p:nvSpPr>
        <p:spPr>
          <a:xfrm>
            <a:off x="7685313" y="4328150"/>
            <a:ext cx="39939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Muestra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los usuarios creados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38bc46ca4_0_0"/>
          <p:cNvSpPr txBox="1"/>
          <p:nvPr/>
        </p:nvSpPr>
        <p:spPr>
          <a:xfrm>
            <a:off x="950054" y="58190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Creación permisos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g2d38bc46ca4_0_0"/>
          <p:cNvCxnSpPr>
            <a:stCxn id="280" idx="1"/>
          </p:cNvCxnSpPr>
          <p:nvPr/>
        </p:nvCxnSpPr>
        <p:spPr>
          <a:xfrm flipH="1" rot="10800000">
            <a:off x="950054" y="107045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2" name="Google Shape;282;g2d38bc46ca4_0_0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2d38bc46ca4_0_0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g2d38bc46ca4_0_0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2d38bc46ca4_0_0"/>
          <p:cNvSpPr txBox="1"/>
          <p:nvPr/>
        </p:nvSpPr>
        <p:spPr>
          <a:xfrm>
            <a:off x="759825" y="1373550"/>
            <a:ext cx="49389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admi 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obtendrá</a:t>
            </a:r>
            <a:r>
              <a:rPr lang="es-MX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permisos para poder realizar todo tipo de modificaciones en la 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g2d38bc46ca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250" y="1367300"/>
            <a:ext cx="5786400" cy="7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2d38bc46ca4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050" y="2532675"/>
            <a:ext cx="7391400" cy="21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2d38bc46ca4_0_0"/>
          <p:cNvSpPr txBox="1"/>
          <p:nvPr/>
        </p:nvSpPr>
        <p:spPr>
          <a:xfrm>
            <a:off x="8114675" y="2591225"/>
            <a:ext cx="35361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Muestra de otorgamiento de permisos en una tabla para el usuario administrador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front</a:t>
            </a: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-end</a:t>
            </a: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html y css </a:t>
            </a: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bootstrap</a:t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5302400" y="1377788"/>
            <a:ext cx="2237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3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650" y="1609988"/>
            <a:ext cx="5649386" cy="494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1000" y="1955550"/>
            <a:ext cx="5850648" cy="34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 txBox="1"/>
          <p:nvPr/>
        </p:nvSpPr>
        <p:spPr>
          <a:xfrm>
            <a:off x="6380675" y="5377300"/>
            <a:ext cx="44907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Vistas  del Front-end del los apartados de zonas y citas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d3b03ef00d_5_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front-end  html y css bootstrap</a:t>
            </a:r>
            <a:endParaRPr/>
          </a:p>
        </p:txBody>
      </p:sp>
      <p:sp>
        <p:nvSpPr>
          <p:cNvPr id="304" name="Google Shape;304;g2d3b03ef00d_5_3"/>
          <p:cNvSpPr txBox="1"/>
          <p:nvPr/>
        </p:nvSpPr>
        <p:spPr>
          <a:xfrm>
            <a:off x="5302400" y="1377788"/>
            <a:ext cx="2237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g2d3b03ef00d_5_3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2d3b03ef00d_5_3"/>
          <p:cNvSpPr txBox="1"/>
          <p:nvPr/>
        </p:nvSpPr>
        <p:spPr>
          <a:xfrm>
            <a:off x="6380675" y="5377300"/>
            <a:ext cx="44907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Vistas  del Front-end del los apartados de Parqueadero y Solicitar zona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común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g2d3b03ef00d_5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62401"/>
            <a:ext cx="5686202" cy="455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2d3b03ef00d_5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1002" y="1762388"/>
            <a:ext cx="5771860" cy="34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f50ce62b93_0_22"/>
          <p:cNvSpPr txBox="1"/>
          <p:nvPr>
            <p:ph type="title"/>
          </p:nvPr>
        </p:nvSpPr>
        <p:spPr>
          <a:xfrm>
            <a:off x="333967" y="281875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back-end php y conexiones</a:t>
            </a:r>
            <a:endParaRPr/>
          </a:p>
        </p:txBody>
      </p:sp>
      <p:sp>
        <p:nvSpPr>
          <p:cNvPr id="314" name="Google Shape;314;g1f50ce62b93_0_22"/>
          <p:cNvSpPr txBox="1"/>
          <p:nvPr/>
        </p:nvSpPr>
        <p:spPr>
          <a:xfrm>
            <a:off x="704975" y="1542625"/>
            <a:ext cx="110145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g1f50ce62b93_0_22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1f50ce62b93_0_22"/>
          <p:cNvSpPr txBox="1"/>
          <p:nvPr/>
        </p:nvSpPr>
        <p:spPr>
          <a:xfrm>
            <a:off x="1245675" y="1873050"/>
            <a:ext cx="276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1f50ce62b93_0_22"/>
          <p:cNvSpPr txBox="1"/>
          <p:nvPr/>
        </p:nvSpPr>
        <p:spPr>
          <a:xfrm>
            <a:off x="7893763" y="1873050"/>
            <a:ext cx="276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g1f50ce62b93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00" y="1591325"/>
            <a:ext cx="10595973" cy="453605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1f50ce62b93_0_22"/>
          <p:cNvSpPr txBox="1"/>
          <p:nvPr/>
        </p:nvSpPr>
        <p:spPr>
          <a:xfrm>
            <a:off x="445375" y="6205325"/>
            <a:ext cx="10212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Vistas  del  back-end de la vista zonas comunes  y la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su codigo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d3b03ef00d_5_25"/>
          <p:cNvSpPr txBox="1"/>
          <p:nvPr>
            <p:ph type="title"/>
          </p:nvPr>
        </p:nvSpPr>
        <p:spPr>
          <a:xfrm>
            <a:off x="333967" y="281875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back-end php y conexiones</a:t>
            </a:r>
            <a:endParaRPr/>
          </a:p>
        </p:txBody>
      </p:sp>
      <p:sp>
        <p:nvSpPr>
          <p:cNvPr id="325" name="Google Shape;325;g2d3b03ef00d_5_25"/>
          <p:cNvSpPr txBox="1"/>
          <p:nvPr/>
        </p:nvSpPr>
        <p:spPr>
          <a:xfrm>
            <a:off x="704975" y="1542625"/>
            <a:ext cx="110145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g2d3b03ef00d_5_25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2d3b03ef00d_5_25"/>
          <p:cNvSpPr txBox="1"/>
          <p:nvPr/>
        </p:nvSpPr>
        <p:spPr>
          <a:xfrm>
            <a:off x="1245675" y="1873050"/>
            <a:ext cx="276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2d3b03ef00d_5_25"/>
          <p:cNvSpPr txBox="1"/>
          <p:nvPr/>
        </p:nvSpPr>
        <p:spPr>
          <a:xfrm>
            <a:off x="7893763" y="1873050"/>
            <a:ext cx="276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2d3b03ef00d_5_25"/>
          <p:cNvSpPr txBox="1"/>
          <p:nvPr/>
        </p:nvSpPr>
        <p:spPr>
          <a:xfrm>
            <a:off x="445375" y="6205325"/>
            <a:ext cx="10212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Vistas  del  back-end de la vista zonas comunes  y la construcción de su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g2d3b03ef00d_5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800" y="1627925"/>
            <a:ext cx="10105348" cy="468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34a3e8246_0_1"/>
          <p:cNvSpPr txBox="1"/>
          <p:nvPr/>
        </p:nvSpPr>
        <p:spPr>
          <a:xfrm>
            <a:off x="580979" y="159155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Control de Versiones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g2d34a3e8246_0_1"/>
          <p:cNvCxnSpPr>
            <a:stCxn id="335" idx="1"/>
          </p:cNvCxnSpPr>
          <p:nvPr/>
        </p:nvCxnSpPr>
        <p:spPr>
          <a:xfrm flipH="1" rot="10800000">
            <a:off x="580979" y="647705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g2d34a3e8246_0_1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2d34a3e8246_0_1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g2d34a3e8246_0_1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2d34a3e8246_0_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581" y="828275"/>
            <a:ext cx="10935451" cy="556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d39012bb50_0_0"/>
          <p:cNvSpPr txBox="1"/>
          <p:nvPr/>
        </p:nvSpPr>
        <p:spPr>
          <a:xfrm>
            <a:off x="580973" y="159150"/>
            <a:ext cx="77040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Control de Versiones </a:t>
            </a:r>
            <a:r>
              <a:rPr lang="es-MX" sz="26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GitHub-Desktop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g2d39012bb50_0_0"/>
          <p:cNvCxnSpPr>
            <a:stCxn id="345" idx="1"/>
          </p:cNvCxnSpPr>
          <p:nvPr/>
        </p:nvCxnSpPr>
        <p:spPr>
          <a:xfrm flipH="1" rot="10800000">
            <a:off x="580973" y="647700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g2d39012bb50_0_0"/>
          <p:cNvSpPr txBox="1"/>
          <p:nvPr/>
        </p:nvSpPr>
        <p:spPr>
          <a:xfrm>
            <a:off x="422200" y="1580749"/>
            <a:ext cx="71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2d39012bb50_0_0"/>
          <p:cNvSpPr txBox="1"/>
          <p:nvPr/>
        </p:nvSpPr>
        <p:spPr>
          <a:xfrm>
            <a:off x="422200" y="605975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g2d39012bb50_0_0"/>
          <p:cNvPicPr preferRelativeResize="0"/>
          <p:nvPr/>
        </p:nvPicPr>
        <p:blipFill rotWithShape="1">
          <a:blip r:embed="rId3">
            <a:alphaModFix amt="49000"/>
          </a:blip>
          <a:srcRect b="5481" l="5759" r="10044" t="2859"/>
          <a:stretch/>
        </p:blipFill>
        <p:spPr>
          <a:xfrm>
            <a:off x="10971825" y="5691175"/>
            <a:ext cx="1047750" cy="85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2d39012bb5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975" y="922200"/>
            <a:ext cx="10552177" cy="568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355" name="Google Shape;3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4"/>
          <p:cNvPicPr preferRelativeResize="0"/>
          <p:nvPr/>
        </p:nvPicPr>
        <p:blipFill rotWithShape="1">
          <a:blip r:embed="rId4">
            <a:alphaModFix amt="49000"/>
          </a:blip>
          <a:srcRect b="5481" l="5759" r="10044" t="2859"/>
          <a:stretch/>
        </p:blipFill>
        <p:spPr>
          <a:xfrm>
            <a:off x="11144250" y="6006475"/>
            <a:ext cx="1047750" cy="8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2024-03-15T00:49:27Z</dcterms:created>
  <dc:creator>Carlos Andrés Herrera Mora</dc:creator>
</cp:coreProperties>
</file>