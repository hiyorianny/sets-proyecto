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Work Sans Medium"/>
      <p:regular r:id="rId22"/>
      <p:bold r:id="rId23"/>
      <p:italic r:id="rId24"/>
      <p:boldItalic r:id="rId25"/>
    </p:embeddedFont>
    <p:embeddedFont>
      <p:font typeface="Work Sa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i4MkMoXW5xs4MTssWowe52u0GC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4E5DC9-16F0-47F0-AD0C-2034776AE29D}">
  <a:tblStyle styleId="{0B4E5DC9-16F0-47F0-AD0C-2034776AE29D}"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FEFEE85-8F30-48BF-A1C4-01FC1020F2B4}" styleName="Table_1">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WorkSansMedium-regular.fntdata"/><Relationship Id="rId21" Type="http://schemas.openxmlformats.org/officeDocument/2006/relationships/slide" Target="slides/slide16.xml"/><Relationship Id="rId24" Type="http://schemas.openxmlformats.org/officeDocument/2006/relationships/font" Target="fonts/WorkSansMedium-italic.fntdata"/><Relationship Id="rId23" Type="http://schemas.openxmlformats.org/officeDocument/2006/relationships/font" Target="fonts/WorkSans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WorkSansLight-regular.fntdata"/><Relationship Id="rId25" Type="http://schemas.openxmlformats.org/officeDocument/2006/relationships/font" Target="fonts/WorkSansMedium-boldItalic.fntdata"/><Relationship Id="rId28" Type="http://schemas.openxmlformats.org/officeDocument/2006/relationships/font" Target="fonts/WorkSansLight-italic.fntdata"/><Relationship Id="rId27" Type="http://schemas.openxmlformats.org/officeDocument/2006/relationships/font" Target="fonts/WorkSansLigh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WorkSansLight-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94a6dd43f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9" name="Google Shape;109;g2c94a6dd43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9" name="Google Shape;1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6" name="Google Shape;1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f50ce62b93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3" name="Google Shape;173;g1f50ce62b93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0" name="Google Shape;18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8" name="Google Shape;1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8" name="Google Shape;1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f50d592b98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7" name="Google Shape;207;g1f50d592b98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7" name="Google Shape;2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5" name="Shape 15"/>
        <p:cNvGrpSpPr/>
        <p:nvPr/>
      </p:nvGrpSpPr>
      <p:grpSpPr>
        <a:xfrm>
          <a:off x="0" y="0"/>
          <a:ext cx="0" cy="0"/>
          <a:chOff x="0" y="0"/>
          <a:chExt cx="0" cy="0"/>
        </a:xfrm>
      </p:grpSpPr>
      <p:sp>
        <p:nvSpPr>
          <p:cNvPr id="16" name="Google Shape;1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p:nvPr>
            <p:ph idx="2" type="pic"/>
          </p:nvPr>
        </p:nvSpPr>
        <p:spPr>
          <a:xfrm>
            <a:off x="5183188" y="987425"/>
            <a:ext cx="6172200" cy="4873625"/>
          </a:xfrm>
          <a:prstGeom prst="rect">
            <a:avLst/>
          </a:prstGeom>
          <a:noFill/>
          <a:ln>
            <a:noFill/>
          </a:ln>
        </p:spPr>
      </p:sp>
      <p:sp>
        <p:nvSpPr>
          <p:cNvPr id="18" name="Google Shape;18;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 name="Google Shape;1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27" name="Shape 27"/>
        <p:cNvGrpSpPr/>
        <p:nvPr/>
      </p:nvGrpSpPr>
      <p:grpSpPr>
        <a:xfrm>
          <a:off x="0" y="0"/>
          <a:ext cx="0" cy="0"/>
          <a:chOff x="0" y="0"/>
          <a:chExt cx="0" cy="0"/>
        </a:xfrm>
      </p:grpSpPr>
      <p:pic>
        <p:nvPicPr>
          <p:cNvPr descr="Patrón de fondo&#10;&#10;Descripción generada automáticamente" id="28" name="Google Shape;28;p1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9" name="Google Shape;29;p18"/>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0" name="Shape 30"/>
        <p:cNvGrpSpPr/>
        <p:nvPr/>
      </p:nvGrpSpPr>
      <p:grpSpPr>
        <a:xfrm>
          <a:off x="0" y="0"/>
          <a:ext cx="0" cy="0"/>
          <a:chOff x="0" y="0"/>
          <a:chExt cx="0" cy="0"/>
        </a:xfrm>
      </p:grpSpPr>
      <p:sp>
        <p:nvSpPr>
          <p:cNvPr id="31" name="Google Shape;3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4" name="Shape 34"/>
        <p:cNvGrpSpPr/>
        <p:nvPr/>
      </p:nvGrpSpPr>
      <p:grpSpPr>
        <a:xfrm>
          <a:off x="0" y="0"/>
          <a:ext cx="0" cy="0"/>
          <a:chOff x="0" y="0"/>
          <a:chExt cx="0" cy="0"/>
        </a:xfrm>
      </p:grpSpPr>
      <p:sp>
        <p:nvSpPr>
          <p:cNvPr id="35" name="Google Shape;35;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0" name="Shape 40"/>
        <p:cNvGrpSpPr/>
        <p:nvPr/>
      </p:nvGrpSpPr>
      <p:grpSpPr>
        <a:xfrm>
          <a:off x="0" y="0"/>
          <a:ext cx="0" cy="0"/>
          <a:chOff x="0" y="0"/>
          <a:chExt cx="0" cy="0"/>
        </a:xfrm>
      </p:grpSpPr>
      <p:sp>
        <p:nvSpPr>
          <p:cNvPr id="41" name="Google Shape;4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6" name="Shape 46"/>
        <p:cNvGrpSpPr/>
        <p:nvPr/>
      </p:nvGrpSpPr>
      <p:grpSpPr>
        <a:xfrm>
          <a:off x="0" y="0"/>
          <a:ext cx="0" cy="0"/>
          <a:chOff x="0" y="0"/>
          <a:chExt cx="0" cy="0"/>
        </a:xfrm>
      </p:grpSpPr>
      <p:sp>
        <p:nvSpPr>
          <p:cNvPr id="47" name="Google Shape;47;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2" name="Shape 52"/>
        <p:cNvGrpSpPr/>
        <p:nvPr/>
      </p:nvGrpSpPr>
      <p:grpSpPr>
        <a:xfrm>
          <a:off x="0" y="0"/>
          <a:ext cx="0" cy="0"/>
          <a:chOff x="0" y="0"/>
          <a:chExt cx="0" cy="0"/>
        </a:xfrm>
      </p:grpSpPr>
      <p:sp>
        <p:nvSpPr>
          <p:cNvPr id="53" name="Google Shape;5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 name="Shape 59"/>
        <p:cNvGrpSpPr/>
        <p:nvPr/>
      </p:nvGrpSpPr>
      <p:grpSpPr>
        <a:xfrm>
          <a:off x="0" y="0"/>
          <a:ext cx="0" cy="0"/>
          <a:chOff x="0" y="0"/>
          <a:chExt cx="0" cy="0"/>
        </a:xfrm>
      </p:grpSpPr>
      <p:sp>
        <p:nvSpPr>
          <p:cNvPr id="60" name="Google Shape;60;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3" name="Shape 73"/>
        <p:cNvGrpSpPr/>
        <p:nvPr/>
      </p:nvGrpSpPr>
      <p:grpSpPr>
        <a:xfrm>
          <a:off x="0" y="0"/>
          <a:ext cx="0" cy="0"/>
          <a:chOff x="0" y="0"/>
          <a:chExt cx="0" cy="0"/>
        </a:xfrm>
      </p:grpSpPr>
      <p:sp>
        <p:nvSpPr>
          <p:cNvPr id="74" name="Google Shape;74;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6" name="Google Shape;76;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rive.google.com/file/d/1kMt5ZMkYRDFeMVBfyR0DmdWHk3HYYmtl/view?usp=drive_link" TargetMode="Externa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rive.google.com/file/d/1TVuYspWRIspIF2hheFPy1gCj03fu0bp8/view?usp=drive_link"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google.com/document/d/16FuZjvGWBfHGSuqF-RB0riup7fuztm-b/edit?usp=sharing&amp;ouid=115278553292655037361&amp;rtpof=true&amp;sd=true" TargetMode="External"/><Relationship Id="rId4" Type="http://schemas.openxmlformats.org/officeDocument/2006/relationships/image" Target="../media/image3.png"/><Relationship Id="rId5" Type="http://schemas.openxmlformats.org/officeDocument/2006/relationships/hyperlink" Target="https://docs.google.com/forms/d/e/1FAIpQLScTH94Owr-O0tRDWQ5A4Dyu3Rmm_31kS7qlc3JZzsjlGgT-9A/viewform?edit2=2_ABaOnuda0qwrfi0CUCt9e-4WlEDUlMLdlXM0QPaM4yTW-S7Y1jvxA0ehMIHf-7vtAg" TargetMode="External"/><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docs.google.com/document/d/1whPCV4yCx4GWR8rjNPEqiJyyv8vqoKYF/edit?usp=drive_link&amp;ouid=104073686945305164733&amp;rtpof=true&amp;sd=tru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hyperlink" Target="https://balsamiq.cloud/s5t9gq6/p2wqq94/r0AE1" TargetMode="External"/><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descr="Window" id="96" name="Google Shape;96;p1"/>
          <p:cNvPicPr preferRelativeResize="0"/>
          <p:nvPr>
            <p:ph idx="2" type="pic"/>
          </p:nvPr>
        </p:nvPicPr>
        <p:blipFill rotWithShape="1">
          <a:blip r:embed="rId3">
            <a:alphaModFix/>
          </a:blip>
          <a:srcRect b="0" l="0" r="0" t="0"/>
          <a:stretch/>
        </p:blipFill>
        <p:spPr>
          <a:xfrm>
            <a:off x="300470" y="206391"/>
            <a:ext cx="11891530" cy="1480366"/>
          </a:xfrm>
          <a:prstGeom prst="rect">
            <a:avLst/>
          </a:prstGeom>
          <a:noFill/>
          <a:ln>
            <a:noFill/>
          </a:ln>
        </p:spPr>
      </p:pic>
      <p:sp>
        <p:nvSpPr>
          <p:cNvPr id="97" name="Google Shape;97;p1"/>
          <p:cNvSpPr txBox="1"/>
          <p:nvPr/>
        </p:nvSpPr>
        <p:spPr>
          <a:xfrm>
            <a:off x="8004014" y="6085642"/>
            <a:ext cx="405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accent6"/>
                </a:solidFill>
                <a:latin typeface="Calibri"/>
                <a:ea typeface="Calibri"/>
                <a:cs typeface="Calibri"/>
                <a:sym typeface="Calibri"/>
              </a:rPr>
              <a:t>Análisis y Desarrollo de Software</a:t>
            </a:r>
            <a:endParaRPr b="0" i="0" sz="1400" u="none" cap="none" strike="noStrike">
              <a:solidFill>
                <a:srgbClr val="000000"/>
              </a:solidFill>
              <a:latin typeface="Arial"/>
              <a:ea typeface="Arial"/>
              <a:cs typeface="Arial"/>
              <a:sym typeface="Arial"/>
            </a:endParaRPr>
          </a:p>
        </p:txBody>
      </p:sp>
      <p:pic>
        <p:nvPicPr>
          <p:cNvPr id="98" name="Google Shape;98;p1"/>
          <p:cNvPicPr preferRelativeResize="0"/>
          <p:nvPr/>
        </p:nvPicPr>
        <p:blipFill rotWithShape="1">
          <a:blip r:embed="rId4">
            <a:alphaModFix/>
          </a:blip>
          <a:srcRect b="0" l="0" r="0" t="0"/>
          <a:stretch/>
        </p:blipFill>
        <p:spPr>
          <a:xfrm>
            <a:off x="2024550" y="2199130"/>
            <a:ext cx="7536326" cy="3698495"/>
          </a:xfrm>
          <a:prstGeom prst="rect">
            <a:avLst/>
          </a:prstGeom>
          <a:noFill/>
          <a:ln>
            <a:noFill/>
          </a:ln>
        </p:spPr>
      </p:pic>
      <p:sp>
        <p:nvSpPr>
          <p:cNvPr id="99" name="Google Shape;99;p1"/>
          <p:cNvSpPr txBox="1"/>
          <p:nvPr/>
        </p:nvSpPr>
        <p:spPr>
          <a:xfrm>
            <a:off x="4340125" y="3069025"/>
            <a:ext cx="30000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0" i="0" lang="es-MX" sz="4000" u="none" cap="none" strike="noStrike">
                <a:solidFill>
                  <a:schemeClr val="dk1"/>
                </a:solidFill>
                <a:latin typeface="Work Sans Medium"/>
                <a:ea typeface="Work Sans Medium"/>
                <a:cs typeface="Work Sans Medium"/>
                <a:sym typeface="Work Sans Medium"/>
              </a:rPr>
              <a:t>SETS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Integrantes</a:t>
            </a:r>
            <a:endParaRPr/>
          </a:p>
        </p:txBody>
      </p:sp>
      <p:sp>
        <p:nvSpPr>
          <p:cNvPr id="105" name="Google Shape;105;p2"/>
          <p:cNvSpPr txBox="1"/>
          <p:nvPr/>
        </p:nvSpPr>
        <p:spPr>
          <a:xfrm>
            <a:off x="5702551" y="3310431"/>
            <a:ext cx="58059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rgbClr val="000000"/>
                </a:solidFill>
                <a:latin typeface="Arial"/>
                <a:ea typeface="Arial"/>
                <a:cs typeface="Arial"/>
                <a:sym typeface="Arial"/>
              </a:rPr>
              <a:t>Yeider Santiago Briceño Sicacha</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Arial"/>
                <a:ea typeface="Arial"/>
                <a:cs typeface="Arial"/>
                <a:sym typeface="Arial"/>
              </a:rPr>
              <a:t>Yensy Karina Caballero  Castro</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Arial"/>
                <a:ea typeface="Arial"/>
                <a:cs typeface="Arial"/>
                <a:sym typeface="Arial"/>
              </a:rPr>
              <a:t>Alejandro Pirazan Esquivel</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chemeClr val="dk1"/>
                </a:solidFill>
                <a:latin typeface="Arial"/>
                <a:ea typeface="Arial"/>
                <a:cs typeface="Arial"/>
                <a:sym typeface="Arial"/>
              </a:rPr>
              <a:t>Juliana Sofia Soler Baez</a:t>
            </a:r>
            <a:endParaRPr b="0" i="0" sz="1800" u="none" cap="none" strike="noStrike">
              <a:solidFill>
                <a:srgbClr val="000000"/>
              </a:solidFill>
              <a:latin typeface="Arial"/>
              <a:ea typeface="Arial"/>
              <a:cs typeface="Arial"/>
              <a:sym typeface="Arial"/>
            </a:endParaRPr>
          </a:p>
        </p:txBody>
      </p:sp>
      <p:pic>
        <p:nvPicPr>
          <p:cNvPr id="106" name="Google Shape;106;p2"/>
          <p:cNvPicPr preferRelativeResize="0"/>
          <p:nvPr/>
        </p:nvPicPr>
        <p:blipFill rotWithShape="1">
          <a:blip r:embed="rId3">
            <a:alphaModFix/>
          </a:blip>
          <a:srcRect b="0" l="0" r="0" t="0"/>
          <a:stretch/>
        </p:blipFill>
        <p:spPr>
          <a:xfrm>
            <a:off x="666800" y="2456823"/>
            <a:ext cx="4563876" cy="3044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2c94a6dd43f_1_0"/>
          <p:cNvSpPr txBox="1"/>
          <p:nvPr>
            <p:ph type="title"/>
          </p:nvPr>
        </p:nvSpPr>
        <p:spPr>
          <a:xfrm>
            <a:off x="456236" y="110481"/>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Contenidos</a:t>
            </a:r>
            <a:endParaRPr/>
          </a:p>
        </p:txBody>
      </p:sp>
      <p:sp>
        <p:nvSpPr>
          <p:cNvPr id="112" name="Google Shape;112;g2c94a6dd43f_1_0"/>
          <p:cNvSpPr txBox="1"/>
          <p:nvPr/>
        </p:nvSpPr>
        <p:spPr>
          <a:xfrm>
            <a:off x="6324151" y="2810406"/>
            <a:ext cx="5805900" cy="2308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i="0" lang="es-MX" sz="1800" u="none" cap="none" strike="noStrike">
                <a:solidFill>
                  <a:srgbClr val="000000"/>
                </a:solidFill>
                <a:latin typeface="Arial"/>
                <a:ea typeface="Arial"/>
                <a:cs typeface="Arial"/>
                <a:sym typeface="Arial"/>
              </a:rPr>
              <a:t>Objetivo general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Objetivo específicos</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Planteamiento problema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Pregunta problema</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Alcance</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Mapas de proceso</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Requerimientos</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0" i="0" lang="es-MX" sz="1800" u="none" cap="none" strike="noStrike">
                <a:solidFill>
                  <a:srgbClr val="000000"/>
                </a:solidFill>
                <a:latin typeface="Arial"/>
                <a:ea typeface="Arial"/>
                <a:cs typeface="Arial"/>
                <a:sym typeface="Arial"/>
              </a:rPr>
              <a:t>Mocku</a:t>
            </a:r>
            <a:r>
              <a:rPr lang="es-MX" sz="1800"/>
              <a:t>p</a:t>
            </a:r>
            <a:endParaRPr b="0" i="0" sz="1800" u="none" cap="none" strike="noStrike">
              <a:solidFill>
                <a:srgbClr val="000000"/>
              </a:solidFill>
              <a:latin typeface="Arial"/>
              <a:ea typeface="Arial"/>
              <a:cs typeface="Arial"/>
              <a:sym typeface="Arial"/>
            </a:endParaRPr>
          </a:p>
        </p:txBody>
      </p:sp>
      <p:pic>
        <p:nvPicPr>
          <p:cNvPr id="113" name="Google Shape;113;g2c94a6dd43f_1_0"/>
          <p:cNvPicPr preferRelativeResize="0"/>
          <p:nvPr/>
        </p:nvPicPr>
        <p:blipFill rotWithShape="1">
          <a:blip r:embed="rId3">
            <a:alphaModFix/>
          </a:blip>
          <a:srcRect b="0" l="0" r="0" t="0"/>
          <a:stretch/>
        </p:blipFill>
        <p:spPr>
          <a:xfrm>
            <a:off x="1394300" y="2717175"/>
            <a:ext cx="4136621" cy="230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Formulación del Proyecto </a:t>
            </a:r>
            <a:endParaRPr/>
          </a:p>
        </p:txBody>
      </p:sp>
      <p:sp>
        <p:nvSpPr>
          <p:cNvPr id="119" name="Google Shape;119;p3"/>
          <p:cNvSpPr txBox="1"/>
          <p:nvPr/>
        </p:nvSpPr>
        <p:spPr>
          <a:xfrm>
            <a:off x="8182700" y="2706703"/>
            <a:ext cx="1420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MX" sz="3600" u="none" cap="none" strike="noStrike">
                <a:solidFill>
                  <a:schemeClr val="dk1"/>
                </a:solidFill>
                <a:latin typeface="Calibri"/>
                <a:ea typeface="Calibri"/>
                <a:cs typeface="Calibri"/>
                <a:sym typeface="Calibri"/>
              </a:rPr>
              <a:t>SETS</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6021302" y="3837708"/>
            <a:ext cx="720000" cy="0"/>
          </a:xfrm>
          <a:prstGeom prst="straightConnector1">
            <a:avLst/>
          </a:prstGeom>
          <a:noFill/>
          <a:ln cap="flat" cmpd="sng" w="50800">
            <a:solidFill>
              <a:schemeClr val="accent6"/>
            </a:solidFill>
            <a:prstDash val="solid"/>
            <a:miter lim="800000"/>
            <a:headEnd len="sm" w="sm" type="none"/>
            <a:tailEnd len="sm" w="sm" type="none"/>
          </a:ln>
        </p:spPr>
      </p:cxnSp>
      <p:sp>
        <p:nvSpPr>
          <p:cNvPr id="121" name="Google Shape;121;p3"/>
          <p:cNvSpPr txBox="1"/>
          <p:nvPr/>
        </p:nvSpPr>
        <p:spPr>
          <a:xfrm>
            <a:off x="5929269" y="3791749"/>
            <a:ext cx="6096000" cy="175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7916"/>
              </a:lnSpc>
              <a:spcBef>
                <a:spcPts val="0"/>
              </a:spcBef>
              <a:spcAft>
                <a:spcPts val="800"/>
              </a:spcAft>
              <a:buClr>
                <a:schemeClr val="dk1"/>
              </a:buClr>
              <a:buSzPts val="1100"/>
              <a:buFont typeface="Arial"/>
              <a:buNone/>
            </a:pPr>
            <a:r>
              <a:rPr b="0" i="0" lang="es-MX" sz="1500" u="none" cap="none" strike="noStrike">
                <a:solidFill>
                  <a:schemeClr val="dk1"/>
                </a:solidFill>
                <a:latin typeface="Arial"/>
                <a:ea typeface="Arial"/>
                <a:cs typeface="Arial"/>
                <a:sym typeface="Arial"/>
              </a:rPr>
              <a:t>El software sets le permitirá organizar y mejorar la administración de una propiedad horizontal  enfocándonos en la comunicación entre el administrador y el residentes, reducir el tiempo para alguna diligencia, donde el administrador modifica, facilitara y gestionará los sistemas de comunicación del residente de manera eficiente segura y transparente.</a:t>
            </a:r>
            <a:endParaRPr b="0" i="0" sz="2300" u="none" cap="none" strike="noStrike">
              <a:solidFill>
                <a:schemeClr val="dk1"/>
              </a:solidFill>
              <a:latin typeface="Calibri"/>
              <a:ea typeface="Calibri"/>
              <a:cs typeface="Calibri"/>
              <a:sym typeface="Calibri"/>
            </a:endParaRPr>
          </a:p>
        </p:txBody>
      </p:sp>
      <p:pic>
        <p:nvPicPr>
          <p:cNvPr id="122" name="Google Shape;122;p3"/>
          <p:cNvPicPr preferRelativeResize="0"/>
          <p:nvPr/>
        </p:nvPicPr>
        <p:blipFill rotWithShape="1">
          <a:blip r:embed="rId3">
            <a:alphaModFix/>
          </a:blip>
          <a:srcRect b="0" l="4549" r="14642" t="0"/>
          <a:stretch/>
        </p:blipFill>
        <p:spPr>
          <a:xfrm>
            <a:off x="209900" y="2275625"/>
            <a:ext cx="5453350" cy="3374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Objetivo General</a:t>
            </a:r>
            <a:endParaRPr b="0" i="0" sz="1800" u="none" cap="none" strike="noStrike">
              <a:solidFill>
                <a:schemeClr val="dk1"/>
              </a:solidFill>
              <a:latin typeface="Calibri"/>
              <a:ea typeface="Calibri"/>
              <a:cs typeface="Calibri"/>
              <a:sym typeface="Calibri"/>
            </a:endParaRPr>
          </a:p>
        </p:txBody>
      </p:sp>
      <p:cxnSp>
        <p:nvCxnSpPr>
          <p:cNvPr id="128" name="Google Shape;128;p4"/>
          <p:cNvCxnSpPr>
            <a:stCxn id="127"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29" name="Google Shape;129;p4"/>
          <p:cNvSpPr txBox="1"/>
          <p:nvPr/>
        </p:nvSpPr>
        <p:spPr>
          <a:xfrm>
            <a:off x="947850" y="2167550"/>
            <a:ext cx="5042400" cy="1477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b="0" i="0" lang="es-MX" sz="1800" u="none" cap="none" strike="noStrike">
                <a:solidFill>
                  <a:schemeClr val="dk1"/>
                </a:solidFill>
                <a:latin typeface="Arial"/>
                <a:ea typeface="Arial"/>
                <a:cs typeface="Arial"/>
                <a:sym typeface="Arial"/>
              </a:rPr>
              <a:t>Implementar el  </a:t>
            </a:r>
            <a:r>
              <a:rPr b="1" i="0" lang="es-MX" sz="1800" u="none" cap="none" strike="noStrike">
                <a:solidFill>
                  <a:schemeClr val="dk1"/>
                </a:solidFill>
                <a:latin typeface="Arial"/>
                <a:ea typeface="Arial"/>
                <a:cs typeface="Arial"/>
                <a:sym typeface="Arial"/>
              </a:rPr>
              <a:t>software; sets </a:t>
            </a:r>
            <a:r>
              <a:rPr b="0" i="0" lang="es-MX" sz="1800" u="none" cap="none" strike="noStrike">
                <a:solidFill>
                  <a:schemeClr val="dk1"/>
                </a:solidFill>
                <a:latin typeface="Arial"/>
                <a:ea typeface="Arial"/>
                <a:cs typeface="Arial"/>
                <a:sym typeface="Arial"/>
              </a:rPr>
              <a:t>que facilitará la comunicación entre administración y residentes, y así permitiéndole tener a la mano la información  sobre los servicios compartidos de un condominio.</a:t>
            </a:r>
            <a:endParaRPr b="0" i="0" sz="1800" u="none" cap="none" strike="noStrike">
              <a:solidFill>
                <a:srgbClr val="000000"/>
              </a:solidFill>
              <a:latin typeface="Arial"/>
              <a:ea typeface="Arial"/>
              <a:cs typeface="Arial"/>
              <a:sym typeface="Arial"/>
            </a:endParaRPr>
          </a:p>
        </p:txBody>
      </p:sp>
      <p:pic>
        <p:nvPicPr>
          <p:cNvPr id="130" name="Google Shape;130;p4"/>
          <p:cNvPicPr preferRelativeResize="0"/>
          <p:nvPr/>
        </p:nvPicPr>
        <p:blipFill rotWithShape="1">
          <a:blip r:embed="rId3">
            <a:alphaModFix/>
          </a:blip>
          <a:srcRect b="0" l="0" r="0" t="0"/>
          <a:stretch/>
        </p:blipFill>
        <p:spPr>
          <a:xfrm>
            <a:off x="6497900" y="2059875"/>
            <a:ext cx="5131976" cy="3088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nvSpPr>
        <p:spPr>
          <a:xfrm>
            <a:off x="950054" y="581905"/>
            <a:ext cx="5547900" cy="10731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Objetivo Específicos</a:t>
            </a:r>
            <a:endParaRPr b="0" i="0" sz="1800" u="none" cap="none" strike="noStrike">
              <a:solidFill>
                <a:schemeClr val="dk1"/>
              </a:solidFill>
              <a:latin typeface="Calibri"/>
              <a:ea typeface="Calibri"/>
              <a:cs typeface="Calibri"/>
              <a:sym typeface="Calibri"/>
            </a:endParaRPr>
          </a:p>
        </p:txBody>
      </p:sp>
      <p:cxnSp>
        <p:nvCxnSpPr>
          <p:cNvPr id="136" name="Google Shape;136;p5"/>
          <p:cNvCxnSpPr>
            <a:stCxn id="135" idx="1"/>
          </p:cNvCxnSpPr>
          <p:nvPr/>
        </p:nvCxnSpPr>
        <p:spPr>
          <a:xfrm flipH="1" rot="10800000">
            <a:off x="950054" y="1070455"/>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37" name="Google Shape;137;p5"/>
          <p:cNvSpPr txBox="1"/>
          <p:nvPr/>
        </p:nvSpPr>
        <p:spPr>
          <a:xfrm>
            <a:off x="0" y="1212875"/>
            <a:ext cx="7171500" cy="5796290"/>
          </a:xfrm>
          <a:prstGeom prst="rect">
            <a:avLst/>
          </a:prstGeom>
          <a:noFill/>
          <a:ln>
            <a:noFill/>
          </a:ln>
        </p:spPr>
        <p:txBody>
          <a:bodyPr anchorCtr="0" anchor="t" bIns="45700" lIns="91425" spcFirstLastPara="1" rIns="91425" wrap="square" tIns="45700">
            <a:spAutoFit/>
          </a:bodyPr>
          <a:lstStyle/>
          <a:p>
            <a:pPr indent="-285750" lvl="0" marL="425450" marR="0" rtl="0" algn="just">
              <a:lnSpc>
                <a:spcPct val="107916"/>
              </a:lnSpc>
              <a:spcBef>
                <a:spcPts val="120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Generar un sistema de mensajería instantánea que permita a los residentes comunicarse rápida y directamente con los administradores y entre ellos.</a:t>
            </a:r>
            <a:endParaRPr b="0"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Proporcionar un tablero de anuncios virtual para toda la comunidad con noticias, eventos y anuncios actuales donde el residente podrá verlos en el muro.</a:t>
            </a:r>
            <a:endParaRPr b="1"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Generar notificaciones automáticas de fechas de vencimiento de pagos y recordatorios de deudas pendientes para mantener a los residentes informados y conscientes de sus obligaciones financieras , paquetería y correspondencia.</a:t>
            </a:r>
            <a:endParaRPr b="1"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Aplicar protocolos de seguridad, como cifrado de datos, verificación de la identidad del usuario y controles periódicos para proteger la privacidad y confidencialidad de la información de los residentes,donde ellos podrán  actualizar su información. </a:t>
            </a:r>
            <a:endParaRPr b="0"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Generar un sistema en el cual el residente podrá agendar una cita con el administrador del conjunto .</a:t>
            </a:r>
            <a:endParaRPr b="0"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Crear una categoría de zonas comunes donde el residente podrá agendar una zona común a través de un calendario donde podrá  ver  los horarios disponibles y no disponibles de las zonas comunes.</a:t>
            </a:r>
            <a:endParaRPr b="0"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Establecer un apartado en el cual podrán ver los parqueaderos , donde llevará a un calendario en se observará los horarios disponibles y no disponibles de los parqueaderos , el residente podrá solicitar  el parqueadero en el horario que necesite.</a:t>
            </a:r>
            <a:endParaRPr b="0" i="0" sz="1400" u="none" cap="none" strike="noStrike">
              <a:solidFill>
                <a:schemeClr val="dk1"/>
              </a:solidFill>
              <a:latin typeface="Arial"/>
              <a:ea typeface="Arial"/>
              <a:cs typeface="Arial"/>
              <a:sym typeface="Arial"/>
            </a:endParaRPr>
          </a:p>
          <a:p>
            <a:pPr indent="-285750" lvl="0" marL="425450" marR="0" rtl="0" algn="just">
              <a:lnSpc>
                <a:spcPct val="107916"/>
              </a:lnSpc>
              <a:spcBef>
                <a:spcPts val="0"/>
              </a:spcBef>
              <a:spcAft>
                <a:spcPts val="0"/>
              </a:spcAft>
              <a:buClr>
                <a:schemeClr val="dk1"/>
              </a:buClr>
              <a:buSzPts val="1400"/>
              <a:buFont typeface="Arial"/>
              <a:buChar char="•"/>
            </a:pPr>
            <a:r>
              <a:rPr b="0" i="0" lang="es-MX" sz="1400" u="none" cap="none" strike="noStrike">
                <a:solidFill>
                  <a:schemeClr val="dk1"/>
                </a:solidFill>
                <a:latin typeface="Arial"/>
                <a:ea typeface="Arial"/>
                <a:cs typeface="Arial"/>
                <a:sym typeface="Arial"/>
              </a:rPr>
              <a:t>Estructurar un chat con ciertos límites donde de parte y parte no se podrán agredir verbalmente en caso de llegar  a pasar este recibirá una penitencia por determinados días con el fin de no fomentar lo.</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38" name="Google Shape;138;p5"/>
          <p:cNvPicPr preferRelativeResize="0"/>
          <p:nvPr/>
        </p:nvPicPr>
        <p:blipFill rotWithShape="1">
          <a:blip r:embed="rId3">
            <a:alphaModFix/>
          </a:blip>
          <a:srcRect b="0" l="0" r="0" t="0"/>
          <a:stretch/>
        </p:blipFill>
        <p:spPr>
          <a:xfrm>
            <a:off x="7365350" y="2040825"/>
            <a:ext cx="4715701" cy="3211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Planteamiento del Problema</a:t>
            </a:r>
            <a:endParaRPr b="0" i="0" sz="1800" u="none" cap="none" strike="noStrike">
              <a:solidFill>
                <a:schemeClr val="dk1"/>
              </a:solidFill>
              <a:latin typeface="Calibri"/>
              <a:ea typeface="Calibri"/>
              <a:cs typeface="Calibri"/>
              <a:sym typeface="Calibri"/>
            </a:endParaRPr>
          </a:p>
        </p:txBody>
      </p:sp>
      <p:cxnSp>
        <p:nvCxnSpPr>
          <p:cNvPr id="144" name="Google Shape;144;p6"/>
          <p:cNvCxnSpPr>
            <a:stCxn id="143"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45" name="Google Shape;145;p6"/>
          <p:cNvSpPr txBox="1"/>
          <p:nvPr/>
        </p:nvSpPr>
        <p:spPr>
          <a:xfrm>
            <a:off x="950050" y="1314875"/>
            <a:ext cx="6258300" cy="4028700"/>
          </a:xfrm>
          <a:prstGeom prst="rect">
            <a:avLst/>
          </a:prstGeom>
          <a:noFill/>
          <a:ln>
            <a:noFill/>
          </a:ln>
        </p:spPr>
        <p:txBody>
          <a:bodyPr anchorCtr="0" anchor="t" bIns="45700" lIns="91425" spcFirstLastPara="1" rIns="91425" wrap="square" tIns="45700">
            <a:spAutoFit/>
          </a:bodyPr>
          <a:lstStyle/>
          <a:p>
            <a:pPr indent="0" lvl="0" marL="0" marR="0" rtl="0" algn="just">
              <a:lnSpc>
                <a:spcPct val="107916"/>
              </a:lnSpc>
              <a:spcBef>
                <a:spcPts val="0"/>
              </a:spcBef>
              <a:spcAft>
                <a:spcPts val="800"/>
              </a:spcAft>
              <a:buClr>
                <a:schemeClr val="dk1"/>
              </a:buClr>
              <a:buSzPts val="1100"/>
              <a:buFont typeface="Arial"/>
              <a:buNone/>
            </a:pPr>
            <a:r>
              <a:rPr b="0" i="0" lang="es-MX" sz="1400" u="none" cap="none" strike="noStrike">
                <a:solidFill>
                  <a:schemeClr val="dk1"/>
                </a:solidFill>
                <a:latin typeface="Arial"/>
                <a:ea typeface="Arial"/>
                <a:cs typeface="Arial"/>
                <a:sym typeface="Arial"/>
              </a:rPr>
              <a:t>Los conjuntos residenciales suelen tener una mala organización frente  a los parqueaderos, se repartan de una forma  injusta , los residentes no están enterados de su correspondencia y paquetería por que nadie les avisa y tienen que ir a preguntar  , las zonas comunes  del condominio algunas veces no se sabe cuándo se pueden utilizar y en qué horario las pueden utilizar, acceder a la información  importante y oportunamente es muy difícil , las normas de convivencia  en la propiedad  horizontal muy pocas personas las conocen , en estos conjuntos muchas veces es difícil  comunicarse con el administrador  ya que no está, se encuentra ocupado  o simplemente el horario  del administrador  interfiere con el de los residentes , por otra parte la organización  de datos del conjunto  está mal organizada  no se sabe quien entra , quienes viven , si vive el propietario o viven arrendatarios , quienes son los arrendatarios (los números , Nombres, cuantos ) , quienes son visitantes y  datos mal informados.  En el condominio  no se conoce algunas veces la gestión  administrativa  por parte de la administración   puede estar o mal administrada o simplemente  no se sabe de donde se saco  para algo ni cuánto costó.</a:t>
            </a:r>
            <a:endParaRPr b="0" i="0" sz="1400" u="none" cap="none" strike="noStrike">
              <a:solidFill>
                <a:srgbClr val="000000"/>
              </a:solidFill>
              <a:latin typeface="Arial"/>
              <a:ea typeface="Arial"/>
              <a:cs typeface="Arial"/>
              <a:sym typeface="Arial"/>
            </a:endParaRPr>
          </a:p>
        </p:txBody>
      </p:sp>
      <p:pic>
        <p:nvPicPr>
          <p:cNvPr id="146" name="Google Shape;146;p6"/>
          <p:cNvPicPr preferRelativeResize="0"/>
          <p:nvPr/>
        </p:nvPicPr>
        <p:blipFill rotWithShape="1">
          <a:blip r:embed="rId3">
            <a:alphaModFix/>
          </a:blip>
          <a:srcRect b="0" l="0" r="0" t="0"/>
          <a:stretch/>
        </p:blipFill>
        <p:spPr>
          <a:xfrm>
            <a:off x="8218000" y="2083675"/>
            <a:ext cx="3048000" cy="2409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Pregunta del Problema</a:t>
            </a:r>
            <a:endParaRPr b="0" i="0" sz="1800" u="none" cap="none" strike="noStrike">
              <a:solidFill>
                <a:schemeClr val="dk1"/>
              </a:solidFill>
              <a:latin typeface="Calibri"/>
              <a:ea typeface="Calibri"/>
              <a:cs typeface="Calibri"/>
              <a:sym typeface="Calibri"/>
            </a:endParaRPr>
          </a:p>
        </p:txBody>
      </p:sp>
      <p:cxnSp>
        <p:nvCxnSpPr>
          <p:cNvPr id="152" name="Google Shape;152;p7"/>
          <p:cNvCxnSpPr>
            <a:stCxn id="151"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53" name="Google Shape;153;p7"/>
          <p:cNvSpPr txBox="1"/>
          <p:nvPr/>
        </p:nvSpPr>
        <p:spPr>
          <a:xfrm>
            <a:off x="1006877" y="2155363"/>
            <a:ext cx="5148000" cy="1565400"/>
          </a:xfrm>
          <a:prstGeom prst="rect">
            <a:avLst/>
          </a:prstGeom>
          <a:noFill/>
          <a:ln>
            <a:noFill/>
          </a:ln>
        </p:spPr>
        <p:txBody>
          <a:bodyPr anchorCtr="0" anchor="t" bIns="45700" lIns="91425" spcFirstLastPara="1" rIns="91425" wrap="square" tIns="45700">
            <a:spAutoFit/>
          </a:bodyPr>
          <a:lstStyle/>
          <a:p>
            <a:pPr indent="0" lvl="0" marL="0" marR="0" rtl="0" algn="just">
              <a:lnSpc>
                <a:spcPct val="107916"/>
              </a:lnSpc>
              <a:spcBef>
                <a:spcPts val="1200"/>
              </a:spcBef>
              <a:spcAft>
                <a:spcPts val="1200"/>
              </a:spcAft>
              <a:buClr>
                <a:schemeClr val="dk1"/>
              </a:buClr>
              <a:buSzPts val="1100"/>
              <a:buFont typeface="Arial"/>
              <a:buNone/>
            </a:pPr>
            <a:r>
              <a:rPr b="0" i="0" lang="es-MX" sz="1800" u="none" cap="none" strike="noStrike">
                <a:solidFill>
                  <a:schemeClr val="dk1"/>
                </a:solidFill>
                <a:latin typeface="Arial"/>
                <a:ea typeface="Arial"/>
                <a:cs typeface="Arial"/>
                <a:sym typeface="Arial"/>
              </a:rPr>
              <a:t>"¿Cómo mejorar la comunicación y la eficiencia en la gestión de datos dentro de los conjuntos residenciales para promover una convivencia armoniosa y una administración más transparente y efectiva?"</a:t>
            </a:r>
            <a:endParaRPr b="0" i="0" sz="1800" u="none" cap="none" strike="noStrike">
              <a:solidFill>
                <a:srgbClr val="000000"/>
              </a:solidFill>
              <a:latin typeface="Arial"/>
              <a:ea typeface="Arial"/>
              <a:cs typeface="Arial"/>
              <a:sym typeface="Arial"/>
            </a:endParaRPr>
          </a:p>
        </p:txBody>
      </p:sp>
      <p:pic>
        <p:nvPicPr>
          <p:cNvPr id="154" name="Google Shape;154;p7"/>
          <p:cNvPicPr preferRelativeResize="0"/>
          <p:nvPr/>
        </p:nvPicPr>
        <p:blipFill rotWithShape="1">
          <a:blip r:embed="rId3">
            <a:alphaModFix/>
          </a:blip>
          <a:srcRect b="0" l="0" r="0" t="0"/>
          <a:stretch/>
        </p:blipFill>
        <p:spPr>
          <a:xfrm>
            <a:off x="6545550" y="1365175"/>
            <a:ext cx="4839550" cy="435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8"/>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Alcance </a:t>
            </a:r>
            <a:endParaRPr b="0" i="0" sz="1800" u="none" cap="none" strike="noStrike">
              <a:solidFill>
                <a:schemeClr val="dk1"/>
              </a:solidFill>
              <a:latin typeface="Calibri"/>
              <a:ea typeface="Calibri"/>
              <a:cs typeface="Calibri"/>
              <a:sym typeface="Calibri"/>
            </a:endParaRPr>
          </a:p>
        </p:txBody>
      </p:sp>
      <p:cxnSp>
        <p:nvCxnSpPr>
          <p:cNvPr id="160" name="Google Shape;160;p8"/>
          <p:cNvCxnSpPr>
            <a:stCxn id="159"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161" name="Google Shape;161;p8"/>
          <p:cNvSpPr txBox="1"/>
          <p:nvPr/>
        </p:nvSpPr>
        <p:spPr>
          <a:xfrm>
            <a:off x="422200" y="1580749"/>
            <a:ext cx="7101038" cy="47089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500" u="none" cap="none" strike="noStrike">
                <a:solidFill>
                  <a:srgbClr val="444444"/>
                </a:solidFill>
                <a:highlight>
                  <a:srgbClr val="FFFFFF"/>
                </a:highlight>
                <a:latin typeface="Arial"/>
                <a:ea typeface="Arial"/>
                <a:cs typeface="Arial"/>
                <a:sym typeface="Arial"/>
              </a:rPr>
              <a:t>El software SETS le permitirá a los residentes entraran a un calendario en el cual agendaran un horario con fecha y hora específica con 15 días de anticipación para poder utilizar las zonas comunes, el admin le suministrará al guarda de seguridad un apartado en el cual pueda ingresar información sobre correspondencia y paquetería de cada apartamento. Los residentes podrán ingresar al aplicativo web y comunicarse a través de un chat el cual tendrá censura a palabras obscenas donde puede recibir una penalización por determinados días, podrán ingresar al apartado  de parqueadero en el cual pueden ver los horarios disponibles de los parqueaderos de visitantes y enviar una solicitud para utilizarlo, también podrán encontrar las normas de convivencia designados para este mismo , observarán los actuales gastos y movimiento de dinero en administración ,en el mismo día se le notificará al residente sobre el horario del shut de basura para hacer uso correcto de el, lograrán actualizar y almacenar su información , Este software mejorará la solicitud de citas con el administrador del conjunto, En donde se podrá hacer una mejor interfaz para agendar y crear eventos culturales y recreativos para promover la diversidad y la inclusión en el conjunto residencial, organizando actividades que celebren las diferentes culturas y tradiciones de los residentes. También se mejorará el seguimiento de solicitudes y quejas de los residentes para asegurar una mejor respuesta oportuna y eficaz a sus necesidades y preocupaciones .</a:t>
            </a:r>
            <a:endParaRPr b="0" i="0" sz="1500" u="none" cap="none" strike="noStrike">
              <a:solidFill>
                <a:srgbClr val="000000"/>
              </a:solidFill>
              <a:latin typeface="Arial"/>
              <a:ea typeface="Arial"/>
              <a:cs typeface="Arial"/>
              <a:sym typeface="Arial"/>
            </a:endParaRPr>
          </a:p>
        </p:txBody>
      </p:sp>
      <p:pic>
        <p:nvPicPr>
          <p:cNvPr id="162" name="Google Shape;162;p8"/>
          <p:cNvPicPr preferRelativeResize="0"/>
          <p:nvPr/>
        </p:nvPicPr>
        <p:blipFill rotWithShape="1">
          <a:blip r:embed="rId3">
            <a:alphaModFix amt="70000"/>
          </a:blip>
          <a:srcRect b="0" l="0" r="0" t="0"/>
          <a:stretch/>
        </p:blipFill>
        <p:spPr>
          <a:xfrm>
            <a:off x="7649789" y="1662110"/>
            <a:ext cx="4145873" cy="3533775"/>
          </a:xfrm>
          <a:prstGeom prst="rect">
            <a:avLst/>
          </a:prstGeom>
          <a:noFill/>
          <a:ln>
            <a:noFill/>
          </a:ln>
        </p:spPr>
      </p:pic>
      <p:sp>
        <p:nvSpPr>
          <p:cNvPr id="163" name="Google Shape;163;p8"/>
          <p:cNvSpPr txBox="1"/>
          <p:nvPr/>
        </p:nvSpPr>
        <p:spPr>
          <a:xfrm>
            <a:off x="422200" y="6059750"/>
            <a:ext cx="722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type="title"/>
          </p:nvPr>
        </p:nvSpPr>
        <p:spPr>
          <a:xfrm>
            <a:off x="333967" y="281875"/>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Mapas de Procesos </a:t>
            </a:r>
            <a:endParaRPr/>
          </a:p>
        </p:txBody>
      </p:sp>
      <p:sp>
        <p:nvSpPr>
          <p:cNvPr id="169" name="Google Shape;169;p9"/>
          <p:cNvSpPr txBox="1"/>
          <p:nvPr/>
        </p:nvSpPr>
        <p:spPr>
          <a:xfrm>
            <a:off x="2079075" y="1753900"/>
            <a:ext cx="7853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s-MX" sz="2400" u="none" cap="none" strike="noStrike">
                <a:solidFill>
                  <a:schemeClr val="dk1"/>
                </a:solidFill>
                <a:latin typeface="Calibri"/>
                <a:ea typeface="Calibri"/>
                <a:cs typeface="Calibri"/>
                <a:sym typeface="Calibri"/>
              </a:rPr>
              <a:t>Mapa de proceso del conjunto residencial </a:t>
            </a:r>
            <a:endParaRPr b="0" i="0" sz="2400" u="none" cap="none" strike="noStrike">
              <a:solidFill>
                <a:schemeClr val="dk1"/>
              </a:solidFill>
              <a:latin typeface="Calibri"/>
              <a:ea typeface="Calibri"/>
              <a:cs typeface="Calibri"/>
              <a:sym typeface="Calibri"/>
            </a:endParaRPr>
          </a:p>
        </p:txBody>
      </p:sp>
      <p:pic>
        <p:nvPicPr>
          <p:cNvPr id="170" name="Google Shape;170;p9">
            <a:hlinkClick r:id="rId3"/>
          </p:cNvPr>
          <p:cNvPicPr preferRelativeResize="0"/>
          <p:nvPr/>
        </p:nvPicPr>
        <p:blipFill rotWithShape="1">
          <a:blip r:embed="rId4">
            <a:alphaModFix/>
          </a:blip>
          <a:srcRect b="0" l="0" r="0" t="0"/>
          <a:stretch/>
        </p:blipFill>
        <p:spPr>
          <a:xfrm>
            <a:off x="2168375" y="2424675"/>
            <a:ext cx="5715269" cy="424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1f50ce62b93_0_22"/>
          <p:cNvSpPr txBox="1"/>
          <p:nvPr>
            <p:ph type="title"/>
          </p:nvPr>
        </p:nvSpPr>
        <p:spPr>
          <a:xfrm>
            <a:off x="333967" y="281875"/>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Mapas de Procesos </a:t>
            </a:r>
            <a:endParaRPr/>
          </a:p>
        </p:txBody>
      </p:sp>
      <p:sp>
        <p:nvSpPr>
          <p:cNvPr id="176" name="Google Shape;176;g1f50ce62b93_0_22"/>
          <p:cNvSpPr txBox="1"/>
          <p:nvPr/>
        </p:nvSpPr>
        <p:spPr>
          <a:xfrm>
            <a:off x="684825" y="1468825"/>
            <a:ext cx="11014500" cy="74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s-MX" sz="2400" u="none" cap="none" strike="noStrike">
                <a:solidFill>
                  <a:schemeClr val="dk1"/>
                </a:solidFill>
                <a:latin typeface="Calibri"/>
                <a:ea typeface="Calibri"/>
                <a:cs typeface="Calibri"/>
                <a:sym typeface="Calibri"/>
              </a:rPr>
              <a:t>Mapa de proceso del conjunto residencial con el software  SETS implementado</a:t>
            </a:r>
            <a:endParaRPr b="0" i="0" sz="2400" u="none" cap="none" strike="noStrike">
              <a:solidFill>
                <a:schemeClr val="dk1"/>
              </a:solidFill>
              <a:latin typeface="Calibri"/>
              <a:ea typeface="Calibri"/>
              <a:cs typeface="Calibri"/>
              <a:sym typeface="Calibri"/>
            </a:endParaRPr>
          </a:p>
        </p:txBody>
      </p:sp>
      <p:pic>
        <p:nvPicPr>
          <p:cNvPr id="177" name="Google Shape;177;g1f50ce62b93_0_22">
            <a:hlinkClick r:id="rId3"/>
          </p:cNvPr>
          <p:cNvPicPr preferRelativeResize="0"/>
          <p:nvPr/>
        </p:nvPicPr>
        <p:blipFill rotWithShape="1">
          <a:blip r:embed="rId4">
            <a:alphaModFix/>
          </a:blip>
          <a:srcRect b="0" l="0" r="0" t="0"/>
          <a:stretch/>
        </p:blipFill>
        <p:spPr>
          <a:xfrm>
            <a:off x="188125" y="2101550"/>
            <a:ext cx="11610975" cy="422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Técnica de Recolección de Datos </a:t>
            </a:r>
            <a:endParaRPr/>
          </a:p>
        </p:txBody>
      </p:sp>
      <p:sp>
        <p:nvSpPr>
          <p:cNvPr id="183" name="Google Shape;183;p10"/>
          <p:cNvSpPr txBox="1"/>
          <p:nvPr/>
        </p:nvSpPr>
        <p:spPr>
          <a:xfrm>
            <a:off x="532425" y="2039500"/>
            <a:ext cx="10855500" cy="154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MX" sz="2200" u="none" cap="none" strike="noStrike">
                <a:solidFill>
                  <a:schemeClr val="dk1"/>
                </a:solidFill>
                <a:latin typeface="Calibri"/>
                <a:ea typeface="Calibri"/>
                <a:cs typeface="Calibri"/>
                <a:sym typeface="Calibri"/>
              </a:rPr>
              <a:t>En la recolección de datos planteamos una encuesta en la cual realizamos 12 preguntas que fueron respondidas por un total de 40 personas.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s-MX" sz="2200" u="none" cap="none" strike="noStrike">
                <a:solidFill>
                  <a:schemeClr val="dk1"/>
                </a:solidFill>
                <a:latin typeface="Calibri"/>
                <a:ea typeface="Calibri"/>
                <a:cs typeface="Calibri"/>
                <a:sym typeface="Calibri"/>
              </a:rPr>
              <a:t>En base a esta técnica nos pudimos dar cuenta que nuestro software SETS  es viable.</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s-MX" sz="2200" u="none" cap="none" strike="noStrike">
                <a:solidFill>
                  <a:schemeClr val="dk1"/>
                </a:solidFill>
                <a:latin typeface="Calibri"/>
                <a:ea typeface="Calibri"/>
                <a:cs typeface="Calibri"/>
                <a:sym typeface="Calibri"/>
              </a:rPr>
              <a:t>  Encuesta                                                                                                                            Tabulación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pic>
        <p:nvPicPr>
          <p:cNvPr id="184" name="Google Shape;184;p10">
            <a:hlinkClick r:id="rId3"/>
          </p:cNvPr>
          <p:cNvPicPr preferRelativeResize="0"/>
          <p:nvPr/>
        </p:nvPicPr>
        <p:blipFill rotWithShape="1">
          <a:blip r:embed="rId4">
            <a:alphaModFix/>
          </a:blip>
          <a:srcRect b="0" l="0" r="0" t="0"/>
          <a:stretch/>
        </p:blipFill>
        <p:spPr>
          <a:xfrm>
            <a:off x="7176150" y="4182250"/>
            <a:ext cx="4695825" cy="2257425"/>
          </a:xfrm>
          <a:prstGeom prst="rect">
            <a:avLst/>
          </a:prstGeom>
          <a:noFill/>
          <a:ln>
            <a:noFill/>
          </a:ln>
        </p:spPr>
      </p:pic>
      <p:pic>
        <p:nvPicPr>
          <p:cNvPr id="185" name="Google Shape;185;p10">
            <a:hlinkClick r:id="rId5"/>
          </p:cNvPr>
          <p:cNvPicPr preferRelativeResize="0"/>
          <p:nvPr/>
        </p:nvPicPr>
        <p:blipFill rotWithShape="1">
          <a:blip r:embed="rId6">
            <a:alphaModFix/>
          </a:blip>
          <a:srcRect b="0" l="10143" r="2413" t="0"/>
          <a:stretch/>
        </p:blipFill>
        <p:spPr>
          <a:xfrm>
            <a:off x="1025575" y="4413150"/>
            <a:ext cx="4227475" cy="1667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ph type="title"/>
          </p:nvPr>
        </p:nvSpPr>
        <p:spPr>
          <a:xfrm>
            <a:off x="457192" y="30120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Requerimientos  </a:t>
            </a:r>
            <a:endParaRPr/>
          </a:p>
        </p:txBody>
      </p:sp>
      <p:graphicFrame>
        <p:nvGraphicFramePr>
          <p:cNvPr id="191" name="Google Shape;191;p12"/>
          <p:cNvGraphicFramePr/>
          <p:nvPr/>
        </p:nvGraphicFramePr>
        <p:xfrm>
          <a:off x="226550" y="2124475"/>
          <a:ext cx="3000000" cy="3000000"/>
        </p:xfrm>
        <a:graphic>
          <a:graphicData uri="http://schemas.openxmlformats.org/drawingml/2006/table">
            <a:tbl>
              <a:tblPr bandCol="1" bandRow="1">
                <a:noFill/>
                <a:tableStyleId>{0B4E5DC9-16F0-47F0-AD0C-2034776AE29D}</a:tableStyleId>
              </a:tblPr>
              <a:tblGrid>
                <a:gridCol w="1683750"/>
                <a:gridCol w="3918350"/>
              </a:tblGrid>
              <a:tr h="482600">
                <a:tc>
                  <a:txBody>
                    <a:bodyPr/>
                    <a:lstStyle/>
                    <a:p>
                      <a:pPr indent="0" lvl="0" marL="0" marR="0" rtl="0" algn="l">
                        <a:lnSpc>
                          <a:spcPct val="100000"/>
                        </a:lnSpc>
                        <a:spcBef>
                          <a:spcPts val="0"/>
                        </a:spcBef>
                        <a:spcAft>
                          <a:spcPts val="0"/>
                        </a:spcAft>
                        <a:buClr>
                          <a:srgbClr val="000000"/>
                        </a:buClr>
                        <a:buSzPts val="1200"/>
                        <a:buFont typeface="Arial"/>
                        <a:buNone/>
                      </a:pPr>
                      <a:r>
                        <a:rPr b="1" lang="es-MX" sz="1200" u="none" cap="none" strike="noStrike"/>
                        <a:t>Identificación del requerimiento:</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RF01.</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01650">
                <a:tc>
                  <a:txBody>
                    <a:bodyPr/>
                    <a:lstStyle/>
                    <a:p>
                      <a:pPr indent="0" lvl="0" marL="0" marR="0" rtl="0" algn="l">
                        <a:lnSpc>
                          <a:spcPct val="100000"/>
                        </a:lnSpc>
                        <a:spcBef>
                          <a:spcPts val="0"/>
                        </a:spcBef>
                        <a:spcAft>
                          <a:spcPts val="0"/>
                        </a:spcAft>
                        <a:buClr>
                          <a:srgbClr val="000000"/>
                        </a:buClr>
                        <a:buSzPts val="1200"/>
                        <a:buFont typeface="Arial"/>
                        <a:buNone/>
                      </a:pPr>
                      <a:r>
                        <a:rPr b="1" lang="es-MX" sz="1200" u="none" cap="none" strike="noStrike"/>
                        <a:t>Nombre del requerimiento: </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Iniciar sesión </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2275">
                <a:tc>
                  <a:txBody>
                    <a:bodyPr/>
                    <a:lstStyle/>
                    <a:p>
                      <a:pPr indent="0" lvl="0" marL="0" marR="0" rtl="0" algn="l">
                        <a:lnSpc>
                          <a:spcPct val="100000"/>
                        </a:lnSpc>
                        <a:spcBef>
                          <a:spcPts val="0"/>
                        </a:spcBef>
                        <a:spcAft>
                          <a:spcPts val="0"/>
                        </a:spcAft>
                        <a:buClr>
                          <a:srgbClr val="000000"/>
                        </a:buClr>
                        <a:buSzPts val="1200"/>
                        <a:buFont typeface="Arial"/>
                        <a:buNone/>
                      </a:pPr>
                      <a:r>
                        <a:rPr b="1" lang="es-MX" sz="1200" u="none" cap="none" strike="noStrike"/>
                        <a:t>Características:</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Inicia sesión para ingresar a sistema, es para el administrador,residente y guarda de seguridad</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85400">
                <a:tc>
                  <a:txBody>
                    <a:bodyPr/>
                    <a:lstStyle/>
                    <a:p>
                      <a:pPr indent="0" lvl="0" marL="0" marR="0" rtl="0" algn="l">
                        <a:lnSpc>
                          <a:spcPct val="100000"/>
                        </a:lnSpc>
                        <a:spcBef>
                          <a:spcPts val="0"/>
                        </a:spcBef>
                        <a:spcAft>
                          <a:spcPts val="0"/>
                        </a:spcAft>
                        <a:buClr>
                          <a:srgbClr val="000000"/>
                        </a:buClr>
                        <a:buSzPts val="1200"/>
                        <a:buFont typeface="Arial"/>
                        <a:buNone/>
                      </a:pPr>
                      <a:r>
                        <a:rPr b="1" lang="es-MX" sz="1200" u="none" cap="none" strike="noStrike"/>
                        <a:t>Descripción del requerimiento:</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lang="es-MX" sz="1200" u="none" cap="none" strike="noStrike"/>
                        <a:t>El sistema permitirá ingresar a al aplicativo web a través de un usuario y una clave al residente después de registrarse y ser validado al administrador y guarda de seguridad el admin les dará su usuario y clave.</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82525">
                <a:tc>
                  <a:txBody>
                    <a:bodyPr/>
                    <a:lstStyle/>
                    <a:p>
                      <a:pPr indent="0" lvl="0" marL="0" marR="0" rtl="0" algn="l">
                        <a:lnSpc>
                          <a:spcPct val="100000"/>
                        </a:lnSpc>
                        <a:spcBef>
                          <a:spcPts val="0"/>
                        </a:spcBef>
                        <a:spcAft>
                          <a:spcPts val="0"/>
                        </a:spcAft>
                        <a:buClr>
                          <a:srgbClr val="000000"/>
                        </a:buClr>
                        <a:buSzPts val="1200"/>
                        <a:buFont typeface="Arial"/>
                        <a:buNone/>
                      </a:pPr>
                      <a:r>
                        <a:rPr b="1" lang="es-MX" sz="1200" u="none" cap="none" strike="noStrike"/>
                        <a:t>Requerimientos NO funcionales:</a:t>
                      </a:r>
                      <a:endParaRPr sz="1200" u="none" cap="none" strike="noStrike">
                        <a:latin typeface="Times New Roman"/>
                        <a:ea typeface="Times New Roman"/>
                        <a:cs typeface="Times New Roman"/>
                        <a:sym typeface="Times New Roman"/>
                      </a:endParaRPr>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01</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02</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03</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04</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05</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06</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07</a:t>
                      </a:r>
                      <a:endParaRPr sz="1200" u="none" cap="none" strike="noStrike"/>
                    </a:p>
                    <a:p>
                      <a:pPr indent="-304800" lvl="0" marL="457200" marR="0" rtl="0" algn="l">
                        <a:lnSpc>
                          <a:spcPct val="100000"/>
                        </a:lnSpc>
                        <a:spcBef>
                          <a:spcPts val="0"/>
                        </a:spcBef>
                        <a:spcAft>
                          <a:spcPts val="0"/>
                        </a:spcAft>
                        <a:buClr>
                          <a:srgbClr val="000000"/>
                        </a:buClr>
                        <a:buSzPts val="1200"/>
                        <a:buFont typeface="Arial"/>
                        <a:buChar char="●"/>
                      </a:pPr>
                      <a:r>
                        <a:rPr lang="es-MX" sz="1200" u="none" cap="none" strike="noStrike"/>
                        <a:t>RNF 08</a:t>
                      </a:r>
                      <a:endParaRPr sz="1200" u="none" cap="none" strike="noStrike"/>
                    </a:p>
                  </a:txBody>
                  <a:tcPr marT="0" marB="0"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92" name="Google Shape;192;p12"/>
          <p:cNvSpPr txBox="1"/>
          <p:nvPr/>
        </p:nvSpPr>
        <p:spPr>
          <a:xfrm>
            <a:off x="187275" y="1507150"/>
            <a:ext cx="6746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400"/>
              <a:buFont typeface="Arial"/>
              <a:buNone/>
            </a:pPr>
            <a:r>
              <a:rPr lang="es-MX" sz="2400">
                <a:solidFill>
                  <a:schemeClr val="dk1"/>
                </a:solidFill>
              </a:rPr>
              <a:t>REQUERIMIENTOS FUNCIONALES</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6148500" y="5128700"/>
            <a:ext cx="5625600" cy="76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Arial"/>
                <a:ea typeface="Arial"/>
                <a:cs typeface="Arial"/>
                <a:sym typeface="Arial"/>
              </a:rPr>
              <a:t>Los requerimientos funcionales y no funcionales los realizamos bajo la norma </a:t>
            </a:r>
            <a:r>
              <a:rPr b="0" i="0" lang="es-MX" sz="1800" u="sng" cap="none" strike="noStrike">
                <a:solidFill>
                  <a:schemeClr val="hlink"/>
                </a:solidFill>
                <a:latin typeface="Arial"/>
                <a:ea typeface="Arial"/>
                <a:cs typeface="Arial"/>
                <a:sym typeface="Arial"/>
                <a:hlinkClick r:id="rId3"/>
              </a:rPr>
              <a:t>IEEE830</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p:txBody>
      </p:sp>
      <p:sp>
        <p:nvSpPr>
          <p:cNvPr id="194" name="Google Shape;194;p12"/>
          <p:cNvSpPr txBox="1"/>
          <p:nvPr/>
        </p:nvSpPr>
        <p:spPr>
          <a:xfrm>
            <a:off x="6148500" y="1507150"/>
            <a:ext cx="6043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sz="2400">
                <a:solidFill>
                  <a:schemeClr val="dk1"/>
                </a:solidFill>
              </a:rPr>
              <a:t>REQUERIMIENTOS NO FUNCIONALES</a:t>
            </a:r>
            <a:endParaRPr/>
          </a:p>
        </p:txBody>
      </p:sp>
      <p:graphicFrame>
        <p:nvGraphicFramePr>
          <p:cNvPr id="195" name="Google Shape;195;p12"/>
          <p:cNvGraphicFramePr/>
          <p:nvPr/>
        </p:nvGraphicFramePr>
        <p:xfrm>
          <a:off x="6201750" y="2124475"/>
          <a:ext cx="3000000" cy="3000000"/>
        </p:xfrm>
        <a:graphic>
          <a:graphicData uri="http://schemas.openxmlformats.org/drawingml/2006/table">
            <a:tbl>
              <a:tblPr bandCol="1" bandRow="1">
                <a:noFill/>
                <a:tableStyleId>{DFEFEE85-8F30-48BF-A1C4-01FC1020F2B4}</a:tableStyleId>
              </a:tblPr>
              <a:tblGrid>
                <a:gridCol w="1495425"/>
                <a:gridCol w="4130050"/>
              </a:tblGrid>
              <a:tr h="363850">
                <a:tc>
                  <a:txBody>
                    <a:bodyPr/>
                    <a:lstStyle/>
                    <a:p>
                      <a:pPr indent="0" lvl="0" marL="0" rtl="0" algn="l">
                        <a:spcBef>
                          <a:spcPts val="0"/>
                        </a:spcBef>
                        <a:spcAft>
                          <a:spcPts val="800"/>
                        </a:spcAft>
                        <a:buNone/>
                      </a:pPr>
                      <a:r>
                        <a:rPr b="1" lang="es-MX" sz="1200"/>
                        <a:t>Identificación del requerimiento:</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800"/>
                        </a:spcAft>
                        <a:buNone/>
                      </a:pPr>
                      <a:r>
                        <a:rPr lang="es-MX" sz="1200"/>
                        <a:t>RNF 01</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77825">
                <a:tc>
                  <a:txBody>
                    <a:bodyPr/>
                    <a:lstStyle/>
                    <a:p>
                      <a:pPr indent="0" lvl="0" marL="0" rtl="0" algn="l">
                        <a:spcBef>
                          <a:spcPts val="0"/>
                        </a:spcBef>
                        <a:spcAft>
                          <a:spcPts val="800"/>
                        </a:spcAft>
                        <a:buNone/>
                      </a:pPr>
                      <a:r>
                        <a:rPr b="1" lang="es-MX" sz="1200"/>
                        <a:t>Nombre del requerimiento: </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800"/>
                        </a:spcAft>
                        <a:buNone/>
                      </a:pPr>
                      <a:r>
                        <a:rPr lang="es-MX" sz="1200"/>
                        <a:t>Desempeño.</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347975">
                <a:tc>
                  <a:txBody>
                    <a:bodyPr/>
                    <a:lstStyle/>
                    <a:p>
                      <a:pPr indent="0" lvl="0" marL="0" rtl="0" algn="l">
                        <a:spcBef>
                          <a:spcPts val="0"/>
                        </a:spcBef>
                        <a:spcAft>
                          <a:spcPts val="800"/>
                        </a:spcAft>
                        <a:buNone/>
                      </a:pPr>
                      <a:r>
                        <a:rPr b="1" lang="es-MX" sz="1200"/>
                        <a:t>Características:</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800"/>
                        </a:spcAft>
                        <a:buNone/>
                      </a:pPr>
                      <a:r>
                        <a:rPr lang="es-MX" sz="1200"/>
                        <a:t>El sistema garantiza a los usuarios un desempeño en cuanto a los datos almacenados en el sistema ofreciéndo una confiabilidad a esta misma. </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29250">
                <a:tc>
                  <a:txBody>
                    <a:bodyPr/>
                    <a:lstStyle/>
                    <a:p>
                      <a:pPr indent="0" lvl="0" marL="0" rtl="0" algn="l">
                        <a:spcBef>
                          <a:spcPts val="0"/>
                        </a:spcBef>
                        <a:spcAft>
                          <a:spcPts val="800"/>
                        </a:spcAft>
                        <a:buNone/>
                      </a:pPr>
                      <a:r>
                        <a:rPr b="1" lang="es-MX" sz="1200"/>
                        <a:t>Descripción del requerimiento:</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800"/>
                        </a:spcAft>
                        <a:buNone/>
                      </a:pPr>
                      <a:r>
                        <a:rPr lang="es-MX" sz="1200"/>
                        <a:t>El sistema permitirá garantizar su desempeño a los diferentes usuarios.</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5750">
                <a:tc>
                  <a:txBody>
                    <a:bodyPr/>
                    <a:lstStyle/>
                    <a:p>
                      <a:pPr indent="0" lvl="0" marL="0" rtl="0" algn="l">
                        <a:spcBef>
                          <a:spcPts val="0"/>
                        </a:spcBef>
                        <a:spcAft>
                          <a:spcPts val="800"/>
                        </a:spcAft>
                        <a:buNone/>
                      </a:pPr>
                      <a:r>
                        <a:rPr b="1" lang="es-MX" sz="1200"/>
                        <a:t>Prioridad del requerimiento: </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800"/>
                        </a:spcAft>
                        <a:buNone/>
                      </a:pPr>
                      <a:r>
                        <a:rPr lang="es-MX" sz="1200"/>
                        <a:t>Alta.</a:t>
                      </a:r>
                      <a:endParaRPr sz="1200"/>
                    </a:p>
                  </a:txBody>
                  <a:tcPr marT="0" marB="0" marR="44450" marL="4445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Mockup  </a:t>
            </a:r>
            <a:endParaRPr/>
          </a:p>
        </p:txBody>
      </p:sp>
      <p:pic>
        <p:nvPicPr>
          <p:cNvPr id="201" name="Google Shape;201;p13"/>
          <p:cNvPicPr preferRelativeResize="0"/>
          <p:nvPr/>
        </p:nvPicPr>
        <p:blipFill rotWithShape="1">
          <a:blip r:embed="rId3">
            <a:alphaModFix/>
          </a:blip>
          <a:srcRect b="0" l="5104" r="5185" t="0"/>
          <a:stretch/>
        </p:blipFill>
        <p:spPr>
          <a:xfrm>
            <a:off x="265975" y="1820325"/>
            <a:ext cx="2408250" cy="4911975"/>
          </a:xfrm>
          <a:prstGeom prst="rect">
            <a:avLst/>
          </a:prstGeom>
          <a:noFill/>
          <a:ln>
            <a:noFill/>
          </a:ln>
        </p:spPr>
      </p:pic>
      <p:sp>
        <p:nvSpPr>
          <p:cNvPr id="202" name="Google Shape;202;p13"/>
          <p:cNvSpPr txBox="1"/>
          <p:nvPr/>
        </p:nvSpPr>
        <p:spPr>
          <a:xfrm flipH="1">
            <a:off x="767200" y="1588125"/>
            <a:ext cx="1283700" cy="2322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INICIO</a:t>
            </a:r>
            <a:endParaRPr b="0" i="0" sz="1400" u="none" cap="none" strike="noStrike">
              <a:solidFill>
                <a:schemeClr val="dk1"/>
              </a:solidFill>
              <a:latin typeface="Calibri"/>
              <a:ea typeface="Calibri"/>
              <a:cs typeface="Calibri"/>
              <a:sym typeface="Calibri"/>
            </a:endParaRPr>
          </a:p>
        </p:txBody>
      </p:sp>
      <p:pic>
        <p:nvPicPr>
          <p:cNvPr id="203" name="Google Shape;203;p13">
            <a:hlinkClick r:id="rId4"/>
          </p:cNvPr>
          <p:cNvPicPr preferRelativeResize="0"/>
          <p:nvPr/>
        </p:nvPicPr>
        <p:blipFill rotWithShape="1">
          <a:blip r:embed="rId5">
            <a:alphaModFix/>
          </a:blip>
          <a:srcRect b="0" l="0" r="0" t="0"/>
          <a:stretch/>
        </p:blipFill>
        <p:spPr>
          <a:xfrm>
            <a:off x="3071125" y="1820325"/>
            <a:ext cx="6699649" cy="4426574"/>
          </a:xfrm>
          <a:prstGeom prst="rect">
            <a:avLst/>
          </a:prstGeom>
          <a:noFill/>
          <a:ln>
            <a:noFill/>
          </a:ln>
        </p:spPr>
      </p:pic>
      <p:sp>
        <p:nvSpPr>
          <p:cNvPr id="204" name="Google Shape;204;p13"/>
          <p:cNvSpPr txBox="1"/>
          <p:nvPr/>
        </p:nvSpPr>
        <p:spPr>
          <a:xfrm>
            <a:off x="5302400" y="1377788"/>
            <a:ext cx="2237100" cy="23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REGISTRARSE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1f50d592b98_0_205"/>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Mockup  </a:t>
            </a:r>
            <a:endParaRPr/>
          </a:p>
        </p:txBody>
      </p:sp>
      <p:pic>
        <p:nvPicPr>
          <p:cNvPr id="210" name="Google Shape;210;g1f50d592b98_0_205"/>
          <p:cNvPicPr preferRelativeResize="0"/>
          <p:nvPr/>
        </p:nvPicPr>
        <p:blipFill rotWithShape="1">
          <a:blip r:embed="rId3">
            <a:alphaModFix/>
          </a:blip>
          <a:srcRect b="0" l="0" r="0" t="0"/>
          <a:stretch/>
        </p:blipFill>
        <p:spPr>
          <a:xfrm>
            <a:off x="543575" y="1967750"/>
            <a:ext cx="4636676" cy="2334725"/>
          </a:xfrm>
          <a:prstGeom prst="rect">
            <a:avLst/>
          </a:prstGeom>
          <a:noFill/>
          <a:ln>
            <a:noFill/>
          </a:ln>
        </p:spPr>
      </p:pic>
      <p:pic>
        <p:nvPicPr>
          <p:cNvPr id="211" name="Google Shape;211;g1f50d592b98_0_205"/>
          <p:cNvPicPr preferRelativeResize="0"/>
          <p:nvPr/>
        </p:nvPicPr>
        <p:blipFill rotWithShape="1">
          <a:blip r:embed="rId4">
            <a:alphaModFix/>
          </a:blip>
          <a:srcRect b="0" l="0" r="0" t="0"/>
          <a:stretch/>
        </p:blipFill>
        <p:spPr>
          <a:xfrm>
            <a:off x="543575" y="4460850"/>
            <a:ext cx="4636674" cy="2397139"/>
          </a:xfrm>
          <a:prstGeom prst="rect">
            <a:avLst/>
          </a:prstGeom>
          <a:noFill/>
          <a:ln>
            <a:noFill/>
          </a:ln>
        </p:spPr>
      </p:pic>
      <p:pic>
        <p:nvPicPr>
          <p:cNvPr id="212" name="Google Shape;212;g1f50d592b98_0_205"/>
          <p:cNvPicPr preferRelativeResize="0"/>
          <p:nvPr/>
        </p:nvPicPr>
        <p:blipFill rotWithShape="1">
          <a:blip r:embed="rId5">
            <a:alphaModFix/>
          </a:blip>
          <a:srcRect b="0" l="0" r="0" t="0"/>
          <a:stretch/>
        </p:blipFill>
        <p:spPr>
          <a:xfrm>
            <a:off x="6872950" y="1967750"/>
            <a:ext cx="4239392" cy="2397150"/>
          </a:xfrm>
          <a:prstGeom prst="rect">
            <a:avLst/>
          </a:prstGeom>
          <a:noFill/>
          <a:ln>
            <a:noFill/>
          </a:ln>
        </p:spPr>
      </p:pic>
      <p:pic>
        <p:nvPicPr>
          <p:cNvPr id="213" name="Google Shape;213;g1f50d592b98_0_205"/>
          <p:cNvPicPr preferRelativeResize="0"/>
          <p:nvPr/>
        </p:nvPicPr>
        <p:blipFill rotWithShape="1">
          <a:blip r:embed="rId6">
            <a:alphaModFix/>
          </a:blip>
          <a:srcRect b="0" l="0" r="0" t="0"/>
          <a:stretch/>
        </p:blipFill>
        <p:spPr>
          <a:xfrm>
            <a:off x="6872949" y="4552825"/>
            <a:ext cx="4178033" cy="2103874"/>
          </a:xfrm>
          <a:prstGeom prst="rect">
            <a:avLst/>
          </a:prstGeom>
          <a:noFill/>
          <a:ln>
            <a:noFill/>
          </a:ln>
        </p:spPr>
      </p:pic>
      <p:sp>
        <p:nvSpPr>
          <p:cNvPr id="214" name="Google Shape;214;g1f50d592b98_0_205"/>
          <p:cNvSpPr txBox="1"/>
          <p:nvPr/>
        </p:nvSpPr>
        <p:spPr>
          <a:xfrm>
            <a:off x="4990100" y="1399100"/>
            <a:ext cx="3282000" cy="46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dk1"/>
                </a:solidFill>
                <a:latin typeface="Calibri"/>
                <a:ea typeface="Calibri"/>
                <a:cs typeface="Calibri"/>
                <a:sym typeface="Calibri"/>
              </a:rPr>
              <a:t>PERFILES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Imagen que contiene Interfaz de usuario gráfica&#10;&#10;Descripción generada automáticamente" id="219" name="Google Shape;21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2024-03-15T00:49:27Z</dcterms:created>
  <dc:creator>Carlos Andrés Herrera Mora</dc:creator>
</cp:coreProperties>
</file>